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F338-0C80-A85E-0EF7-D2367EAC3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E20AD4-610B-7C6F-83DB-5FFFDBC08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30F21-CA06-4893-91CD-FD82BB5B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0990-B8D4-480D-A004-D80BFCFF4797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5297A-4525-8963-5F38-ED77FFB8F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2FC51-0B5B-8C0A-B16B-C0A53A8A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48E77-A7D5-4CDC-8650-7FDC20DB36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48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F496-DB25-F871-B53C-9DD100881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988D6-44D1-85DE-54C6-DA5B44C71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49D0E-D6A3-B078-BFC1-D924E9021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0990-B8D4-480D-A004-D80BFCFF4797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84796-BFEF-1B8B-0125-67BEB70CB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F8372-FC21-E6F3-C54A-FF2B870C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48E77-A7D5-4CDC-8650-7FDC20DB36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666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34AB7-C760-0D69-293D-E65850558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420E7-D55C-4277-F377-1BE6373D3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CB7C5-F5FF-19D7-B360-47FA5BA3B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0990-B8D4-480D-A004-D80BFCFF4797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471C2-4ED3-2387-E4DD-BDE2C3B8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3B3A6-87FA-C257-FE84-0ADADA53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48E77-A7D5-4CDC-8650-7FDC20DB36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599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EACF9-611A-E4E1-CB7C-9DC4C4A6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8AD82-A0C6-3D92-8002-8DE782896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62B9D-E3D1-9ED6-05B7-C69BE4292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E305F-BF8F-B111-CBDD-12276A034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0990-B8D4-480D-A004-D80BFCFF4797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85043-E2F5-BA57-22ED-F331DE199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B92FF-96D0-3240-C51B-920F43D08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48E77-A7D5-4CDC-8650-7FDC20DB36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253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ACC8D-C142-862C-C7CE-E21C61F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30F06-6561-96E8-E542-D36E1EA97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AF409-2997-806F-70CD-2F17F5C08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9124A8-8BF8-C265-C9FC-12894CC46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3A7583-9E01-CCD3-1A96-5EBB08219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3FCC48-A56F-1E96-D368-9F4414C0D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0990-B8D4-480D-A004-D80BFCFF4797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9C949B-51FA-91B1-2312-F37AA0C51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FFA96-CE1F-B90E-DB68-BC1F5A3CA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48E77-A7D5-4CDC-8650-7FDC20DB36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08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D951C-50C8-9927-D069-FAFD4BEB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864E8-92B2-9BBD-36E8-A3E599AB7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0990-B8D4-480D-A004-D80BFCFF4797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2DE7A-F49A-7A9C-E7D7-868B7577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932DA-C9C2-14F8-710F-DA7DF2C2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48E77-A7D5-4CDC-8650-7FDC20DB36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545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49C54-8F61-7480-AE2E-3806AB81F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0990-B8D4-480D-A004-D80BFCFF4797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21417-94C7-28E2-3B22-9ACFFA7F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B0E2A-9C0B-88F4-C2BC-CC2499CF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48E77-A7D5-4CDC-8650-7FDC20DB36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35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56C0-C3B6-99AC-442E-DDB65BD7A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76843-2B97-1F2F-4939-405D13F6E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26B7AC-66D4-6F3C-2609-A7175FA7C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CDD38-69E7-6DB7-7482-F2FB377F2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0990-B8D4-480D-A004-D80BFCFF4797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7A67B-726B-0EF3-8198-17E98211E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90D84-7BFE-BBD4-F9A3-51E1D7DF2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48E77-A7D5-4CDC-8650-7FDC20DB36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950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39498-F86C-CBC3-A3CA-E7320436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DE8219-F887-A4B7-C9A9-25B5DDF7C3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1A0C7-3404-430A-94FF-97B57CB59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2E7C9-74FE-3BBB-4EB4-1C8BDC240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0990-B8D4-480D-A004-D80BFCFF4797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1B7DC-E10A-25FA-6FE0-E5E7C59A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18DA3-783E-C2FC-2CA3-58758E137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48E77-A7D5-4CDC-8650-7FDC20DB36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50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FE27-4ADD-ED48-499C-8367B20E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E6242-2BE4-CD9E-6AE5-D97452DCD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EB9B8-3394-06E5-F3A3-9C6C99BA7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0990-B8D4-480D-A004-D80BFCFF4797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30D8D-56F1-6750-7DB6-3D15DD904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5C921-9D2E-6DB9-B61F-4E2C8F68C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48E77-A7D5-4CDC-8650-7FDC20DB36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397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3A2941-41B8-8D17-C9B0-B2296A87E4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3997F-21F4-8118-FE99-2AE87E083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FED76-5B42-E183-BA4B-7F2BDB524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0990-B8D4-480D-A004-D80BFCFF4797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54301-0407-7FFE-4E5B-04279DA91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EE720-71B5-C4D6-7BA0-123456B9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48E77-A7D5-4CDC-8650-7FDC20DB36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87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E3638A-6191-6484-64FB-3300264B7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A49FF-FDD1-86C1-741A-397EC42AD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CE3DC-C9B6-8678-93D5-CB2C2C57B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F0990-B8D4-480D-A004-D80BFCFF4797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6EE43-22C6-8AEA-7BD9-94520DD093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3ED55-3893-CE48-2941-2EB366EE2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D48E77-A7D5-4CDC-8650-7FDC20DB36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230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9695-5AED-39EB-D262-6E03842B03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CCC5B-7ADB-9A63-5175-9907136959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189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1ABA-4068-5714-470C-405A52ACB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lineage flow for AM1 project – topic classification</a:t>
            </a:r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DC7ABD-7D9E-8AC3-936F-BEEB9A943E51}"/>
              </a:ext>
            </a:extLst>
          </p:cNvPr>
          <p:cNvSpPr/>
          <p:nvPr/>
        </p:nvSpPr>
        <p:spPr>
          <a:xfrm>
            <a:off x="146955" y="4833257"/>
            <a:ext cx="1491343" cy="16437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Colectica</a:t>
            </a:r>
          </a:p>
          <a:p>
            <a:pPr algn="ctr"/>
            <a:r>
              <a:rPr lang="en-US" sz="1600" dirty="0"/>
              <a:t>repository</a:t>
            </a:r>
            <a:endParaRPr lang="en-GB" sz="16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A617F34-5243-CF0C-F486-D98F5D61F2A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892627" y="3794865"/>
            <a:ext cx="1132114" cy="1038392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BCFCC15-A1A8-9F5D-6E9F-5867ED59FF07}"/>
              </a:ext>
            </a:extLst>
          </p:cNvPr>
          <p:cNvCxnSpPr>
            <a:cxnSpLocks/>
          </p:cNvCxnSpPr>
          <p:nvPr/>
        </p:nvCxnSpPr>
        <p:spPr>
          <a:xfrm>
            <a:off x="2155369" y="3794865"/>
            <a:ext cx="876300" cy="103090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Plaque 67">
            <a:extLst>
              <a:ext uri="{FF2B5EF4-FFF2-40B4-BE49-F238E27FC236}">
                <a16:creationId xmlns:a16="http://schemas.microsoft.com/office/drawing/2014/main" id="{FC6D20E3-8395-92D9-E2D4-44DA1C6D071A}"/>
              </a:ext>
            </a:extLst>
          </p:cNvPr>
          <p:cNvSpPr/>
          <p:nvPr/>
        </p:nvSpPr>
        <p:spPr>
          <a:xfrm>
            <a:off x="8885464" y="4867795"/>
            <a:ext cx="1197429" cy="1325563"/>
          </a:xfrm>
          <a:prstGeom prst="plaqu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Logistic</a:t>
            </a:r>
          </a:p>
          <a:p>
            <a:pPr algn="ctr"/>
            <a:r>
              <a:rPr lang="en-US" sz="1200" dirty="0"/>
              <a:t>regression model</a:t>
            </a:r>
            <a:endParaRPr lang="en-GB" sz="1200" dirty="0"/>
          </a:p>
        </p:txBody>
      </p:sp>
      <p:sp>
        <p:nvSpPr>
          <p:cNvPr id="71" name="Rectangle: Folded Corner 70">
            <a:extLst>
              <a:ext uri="{FF2B5EF4-FFF2-40B4-BE49-F238E27FC236}">
                <a16:creationId xmlns:a16="http://schemas.microsoft.com/office/drawing/2014/main" id="{92A8D02F-361B-FC23-54F9-C69EBB30DAC7}"/>
              </a:ext>
            </a:extLst>
          </p:cNvPr>
          <p:cNvSpPr/>
          <p:nvPr/>
        </p:nvSpPr>
        <p:spPr>
          <a:xfrm>
            <a:off x="2403021" y="4890579"/>
            <a:ext cx="1197428" cy="1045880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JSON</a:t>
            </a:r>
          </a:p>
          <a:p>
            <a:pPr algn="ctr"/>
            <a:r>
              <a:rPr lang="en-US" dirty="0"/>
              <a:t>file</a:t>
            </a:r>
            <a:endParaRPr lang="en-GB" dirty="0"/>
          </a:p>
        </p:txBody>
      </p:sp>
      <p:sp>
        <p:nvSpPr>
          <p:cNvPr id="74" name="Rectangle: Folded Corner 73">
            <a:extLst>
              <a:ext uri="{FF2B5EF4-FFF2-40B4-BE49-F238E27FC236}">
                <a16:creationId xmlns:a16="http://schemas.microsoft.com/office/drawing/2014/main" id="{A9195F44-5B52-152A-B893-3702FA2645B8}"/>
              </a:ext>
            </a:extLst>
          </p:cNvPr>
          <p:cNvSpPr/>
          <p:nvPr/>
        </p:nvSpPr>
        <p:spPr>
          <a:xfrm>
            <a:off x="4750252" y="4867795"/>
            <a:ext cx="1197428" cy="1045880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Pandas </a:t>
            </a:r>
            <a:r>
              <a:rPr lang="en-US" sz="1400" dirty="0" err="1"/>
              <a:t>dataframe</a:t>
            </a:r>
            <a:r>
              <a:rPr lang="en-US" sz="1400" dirty="0"/>
              <a:t> with raw text</a:t>
            </a:r>
            <a:endParaRPr lang="en-GB" sz="1400" dirty="0"/>
          </a:p>
        </p:txBody>
      </p:sp>
      <p:sp>
        <p:nvSpPr>
          <p:cNvPr id="75" name="Rectangle: Folded Corner 74">
            <a:extLst>
              <a:ext uri="{FF2B5EF4-FFF2-40B4-BE49-F238E27FC236}">
                <a16:creationId xmlns:a16="http://schemas.microsoft.com/office/drawing/2014/main" id="{4018B34E-0346-715F-E659-4D9765F3CE4B}"/>
              </a:ext>
            </a:extLst>
          </p:cNvPr>
          <p:cNvSpPr/>
          <p:nvPr/>
        </p:nvSpPr>
        <p:spPr>
          <a:xfrm>
            <a:off x="6904943" y="4881573"/>
            <a:ext cx="1197428" cy="1045880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Pandas </a:t>
            </a:r>
            <a:r>
              <a:rPr lang="en-US" sz="1400" dirty="0" err="1"/>
              <a:t>dataframe</a:t>
            </a:r>
            <a:r>
              <a:rPr lang="en-US" sz="1400" dirty="0"/>
              <a:t> with embeddings</a:t>
            </a:r>
            <a:endParaRPr lang="en-GB" sz="14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9993EE4-784E-3D25-2ABD-23B10FF30FC1}"/>
              </a:ext>
            </a:extLst>
          </p:cNvPr>
          <p:cNvSpPr/>
          <p:nvPr/>
        </p:nvSpPr>
        <p:spPr>
          <a:xfrm>
            <a:off x="5821133" y="2093018"/>
            <a:ext cx="1303565" cy="162955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Create SBERT text embeddings</a:t>
            </a:r>
            <a:endParaRPr lang="en-GB" sz="1600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AABC893-C8A8-968E-B91A-97AD0FD4A148}"/>
              </a:ext>
            </a:extLst>
          </p:cNvPr>
          <p:cNvCxnSpPr>
            <a:cxnSpLocks/>
          </p:cNvCxnSpPr>
          <p:nvPr/>
        </p:nvCxnSpPr>
        <p:spPr>
          <a:xfrm flipV="1">
            <a:off x="3162297" y="3794865"/>
            <a:ext cx="941617" cy="1038392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DB37F5D-62F4-FC29-0AA1-5344F1CD9217}"/>
              </a:ext>
            </a:extLst>
          </p:cNvPr>
          <p:cNvCxnSpPr>
            <a:cxnSpLocks/>
          </p:cNvCxnSpPr>
          <p:nvPr/>
        </p:nvCxnSpPr>
        <p:spPr>
          <a:xfrm>
            <a:off x="4354283" y="3802353"/>
            <a:ext cx="876300" cy="103090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DB0353E-14D3-F2E0-5E97-0BBB30FCD56B}"/>
              </a:ext>
            </a:extLst>
          </p:cNvPr>
          <p:cNvCxnSpPr>
            <a:cxnSpLocks/>
          </p:cNvCxnSpPr>
          <p:nvPr/>
        </p:nvCxnSpPr>
        <p:spPr>
          <a:xfrm flipV="1">
            <a:off x="5480952" y="3747421"/>
            <a:ext cx="941617" cy="1038392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7C9F1C02-189E-FE70-2C06-FFFF0B5638BE}"/>
              </a:ext>
            </a:extLst>
          </p:cNvPr>
          <p:cNvSpPr/>
          <p:nvPr/>
        </p:nvSpPr>
        <p:spPr>
          <a:xfrm>
            <a:off x="7949286" y="2076000"/>
            <a:ext cx="1303565" cy="162955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Create training/</a:t>
            </a:r>
          </a:p>
          <a:p>
            <a:pPr algn="ctr"/>
            <a:r>
              <a:rPr lang="en-US" sz="1600" dirty="0"/>
              <a:t>test datasets</a:t>
            </a:r>
            <a:endParaRPr lang="en-GB" sz="16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139E27E-8DC0-6BC9-241D-A38C1B1A77F5}"/>
              </a:ext>
            </a:extLst>
          </p:cNvPr>
          <p:cNvSpPr/>
          <p:nvPr/>
        </p:nvSpPr>
        <p:spPr>
          <a:xfrm>
            <a:off x="3605889" y="2076000"/>
            <a:ext cx="1303565" cy="162955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Quality control/ data filter</a:t>
            </a:r>
            <a:endParaRPr lang="en-GB" sz="16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934B692-1B50-FBB7-598D-0C665387144B}"/>
              </a:ext>
            </a:extLst>
          </p:cNvPr>
          <p:cNvSpPr/>
          <p:nvPr/>
        </p:nvSpPr>
        <p:spPr>
          <a:xfrm>
            <a:off x="1458684" y="2093018"/>
            <a:ext cx="1303565" cy="162955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Colectica data extraction</a:t>
            </a:r>
            <a:endParaRPr lang="en-GB" sz="1600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23AB448-A61D-815A-1DC6-F5EA24457F74}"/>
              </a:ext>
            </a:extLst>
          </p:cNvPr>
          <p:cNvCxnSpPr>
            <a:cxnSpLocks/>
          </p:cNvCxnSpPr>
          <p:nvPr/>
        </p:nvCxnSpPr>
        <p:spPr>
          <a:xfrm>
            <a:off x="6523269" y="3791123"/>
            <a:ext cx="876300" cy="103090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C7848F1-7D6F-DF02-685D-C650CAEB841C}"/>
              </a:ext>
            </a:extLst>
          </p:cNvPr>
          <p:cNvCxnSpPr>
            <a:cxnSpLocks/>
          </p:cNvCxnSpPr>
          <p:nvPr/>
        </p:nvCxnSpPr>
        <p:spPr>
          <a:xfrm flipV="1">
            <a:off x="7631562" y="3757532"/>
            <a:ext cx="941617" cy="1038392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088F1C9-9759-F016-0984-F9CE1D68BD71}"/>
              </a:ext>
            </a:extLst>
          </p:cNvPr>
          <p:cNvCxnSpPr>
            <a:cxnSpLocks/>
          </p:cNvCxnSpPr>
          <p:nvPr/>
        </p:nvCxnSpPr>
        <p:spPr>
          <a:xfrm>
            <a:off x="8659584" y="3775323"/>
            <a:ext cx="876300" cy="103090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2C1DA79D-49E1-4BE7-F7AE-687AD5F5E05C}"/>
              </a:ext>
            </a:extLst>
          </p:cNvPr>
          <p:cNvSpPr/>
          <p:nvPr/>
        </p:nvSpPr>
        <p:spPr>
          <a:xfrm>
            <a:off x="10254343" y="1611090"/>
            <a:ext cx="468085" cy="47862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719CB18-3232-680A-9550-B53AE10C95AA}"/>
              </a:ext>
            </a:extLst>
          </p:cNvPr>
          <p:cNvSpPr/>
          <p:nvPr/>
        </p:nvSpPr>
        <p:spPr>
          <a:xfrm>
            <a:off x="10254343" y="2413461"/>
            <a:ext cx="468085" cy="4786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: Folded Corner 94">
            <a:extLst>
              <a:ext uri="{FF2B5EF4-FFF2-40B4-BE49-F238E27FC236}">
                <a16:creationId xmlns:a16="http://schemas.microsoft.com/office/drawing/2014/main" id="{0DBE11ED-F4FF-3ECE-B0E7-71AB5DEE467D}"/>
              </a:ext>
            </a:extLst>
          </p:cNvPr>
          <p:cNvSpPr/>
          <p:nvPr/>
        </p:nvSpPr>
        <p:spPr>
          <a:xfrm>
            <a:off x="10254343" y="3243947"/>
            <a:ext cx="468085" cy="478627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96" name="Plaque 95">
            <a:extLst>
              <a:ext uri="{FF2B5EF4-FFF2-40B4-BE49-F238E27FC236}">
                <a16:creationId xmlns:a16="http://schemas.microsoft.com/office/drawing/2014/main" id="{24BC0039-F3CE-207C-D973-365AF878E7D9}"/>
              </a:ext>
            </a:extLst>
          </p:cNvPr>
          <p:cNvSpPr/>
          <p:nvPr/>
        </p:nvSpPr>
        <p:spPr>
          <a:xfrm>
            <a:off x="10254343" y="4060033"/>
            <a:ext cx="468085" cy="478627"/>
          </a:xfrm>
          <a:prstGeom prst="plaqu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869E2C2-078D-1B67-D083-3E7F8EB29D79}"/>
              </a:ext>
            </a:extLst>
          </p:cNvPr>
          <p:cNvSpPr txBox="1"/>
          <p:nvPr/>
        </p:nvSpPr>
        <p:spPr>
          <a:xfrm>
            <a:off x="10805241" y="1658817"/>
            <a:ext cx="98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</a:t>
            </a:r>
            <a:endParaRPr lang="en-GB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5C1FC65-BA28-9B6F-AA23-69C6299B47CF}"/>
              </a:ext>
            </a:extLst>
          </p:cNvPr>
          <p:cNvSpPr txBox="1"/>
          <p:nvPr/>
        </p:nvSpPr>
        <p:spPr>
          <a:xfrm>
            <a:off x="10802863" y="2516468"/>
            <a:ext cx="817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  <a:endParaRPr lang="en-GB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EBB3058-FD3E-9FB7-C79F-47C0D439F0EC}"/>
              </a:ext>
            </a:extLst>
          </p:cNvPr>
          <p:cNvSpPr txBox="1"/>
          <p:nvPr/>
        </p:nvSpPr>
        <p:spPr>
          <a:xfrm>
            <a:off x="10801436" y="3331642"/>
            <a:ext cx="538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File</a:t>
            </a:r>
            <a:endParaRPr lang="en-GB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0F9EB42-312A-7461-63FA-8E87EAE1C463}"/>
              </a:ext>
            </a:extLst>
          </p:cNvPr>
          <p:cNvSpPr txBox="1"/>
          <p:nvPr/>
        </p:nvSpPr>
        <p:spPr>
          <a:xfrm>
            <a:off x="10774482" y="4139814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47F267D-69E2-BDD7-9FA5-8115DCDBD6BE}"/>
              </a:ext>
            </a:extLst>
          </p:cNvPr>
          <p:cNvSpPr txBox="1"/>
          <p:nvPr/>
        </p:nvSpPr>
        <p:spPr>
          <a:xfrm>
            <a:off x="10161019" y="973495"/>
            <a:ext cx="65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Key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04812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Data lineage flow for AM1 project – topic classification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Lyttleton</dc:creator>
  <cp:lastModifiedBy>Oliver Lyttleton</cp:lastModifiedBy>
  <cp:revision>1</cp:revision>
  <dcterms:created xsi:type="dcterms:W3CDTF">2026-03-17T14:39:42Z</dcterms:created>
  <dcterms:modified xsi:type="dcterms:W3CDTF">2026-03-17T15:34:00Z</dcterms:modified>
</cp:coreProperties>
</file>