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62" r:id="rId5"/>
    <p:sldId id="258" r:id="rId6"/>
    <p:sldId id="259" r:id="rId7"/>
    <p:sldId id="265" r:id="rId8"/>
    <p:sldId id="260" r:id="rId9"/>
    <p:sldId id="266" r:id="rId10"/>
    <p:sldId id="263" r:id="rId11"/>
    <p:sldId id="271" r:id="rId12"/>
    <p:sldId id="268" r:id="rId13"/>
    <p:sldId id="261" r:id="rId14"/>
    <p:sldId id="267" r:id="rId15"/>
    <p:sldId id="270" r:id="rId16"/>
    <p:sldId id="269" r:id="rId17"/>
    <p:sldId id="272" r:id="rId18"/>
    <p:sldId id="274" r:id="rId19"/>
    <p:sldId id="279" r:id="rId20"/>
    <p:sldId id="273" r:id="rId21"/>
    <p:sldId id="275" r:id="rId22"/>
    <p:sldId id="278" r:id="rId23"/>
    <p:sldId id="277"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1F28B-E252-F1E6-F690-F39683C55D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8982F6B-B736-892E-5068-9829295DC5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5AA0879-F855-F4E6-B797-F2B14BCA17B2}"/>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20CB87E8-C716-13AB-6855-403AA02469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F3AE4A-41F2-8EB3-D392-1C7BAE3A5418}"/>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167472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C29C-8014-EADD-ED2A-BC94347798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82BAB8-EC6F-6AD3-2493-2E5FCC409B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D0564D-2338-A6BB-1370-188446D6AAD9}"/>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9E49315E-A171-696F-CE3C-1DB4F12DFD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81F36F-81FC-F106-F484-CA9DBC90CC18}"/>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2049934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0DC11-0309-1C41-D18C-53215A27CB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38E0EC0-5101-298A-E8E8-5CAF73C43C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382EA9-E5F6-F126-179E-8E979721BC3A}"/>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018B1B00-B36D-A118-2800-523D45E254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A5EB47-721D-3C3A-67AE-70B2555B6F86}"/>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3466483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386B-FB7C-E55A-EAC9-7A5631455D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ECBEEF-40CE-8F73-D9FA-FF8165D7D3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5767C1E-E1F4-E1C4-B16F-F168EAE43B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8245411-BF40-7F18-537D-7A40D563C0F0}"/>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6" name="Footer Placeholder 5">
            <a:extLst>
              <a:ext uri="{FF2B5EF4-FFF2-40B4-BE49-F238E27FC236}">
                <a16:creationId xmlns:a16="http://schemas.microsoft.com/office/drawing/2014/main" id="{36BFD484-F34B-5539-2AB7-4AC52951B92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79DFD4-B96F-7AC9-0DBA-75B946CD38E2}"/>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3607048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CA30E-FD41-0D89-9026-4696AC5BFA6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773B600-DB9D-167A-2785-0B2DC691A3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3F9BF5-38A2-06EB-0BC2-73FF36D08E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AAFAB8B-8116-8FCE-F1AA-74AB2680B6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BD2111-9641-FC3C-0AF8-79EF649DD0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C4A334A-B849-DF18-CF83-8DB07E9C9744}"/>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8" name="Footer Placeholder 7">
            <a:extLst>
              <a:ext uri="{FF2B5EF4-FFF2-40B4-BE49-F238E27FC236}">
                <a16:creationId xmlns:a16="http://schemas.microsoft.com/office/drawing/2014/main" id="{FB352065-5CD1-EC8E-8414-3B5703A36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3238D6-121A-2811-042F-F59F84B74A27}"/>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4045295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C388-D347-5A3D-A2DD-AD3C38B182A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479F56D-753D-E3A4-BB69-7EAC4476A6BB}"/>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4" name="Footer Placeholder 3">
            <a:extLst>
              <a:ext uri="{FF2B5EF4-FFF2-40B4-BE49-F238E27FC236}">
                <a16:creationId xmlns:a16="http://schemas.microsoft.com/office/drawing/2014/main" id="{DF237DB7-28B3-7DCC-A658-A36A8401034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7A9272B-5DCB-EE63-1E89-73785EE584F9}"/>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2548205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B9D062-3DF3-685E-0DA1-A8294C97E4A5}"/>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3" name="Footer Placeholder 2">
            <a:extLst>
              <a:ext uri="{FF2B5EF4-FFF2-40B4-BE49-F238E27FC236}">
                <a16:creationId xmlns:a16="http://schemas.microsoft.com/office/drawing/2014/main" id="{A790865C-3AAB-99A5-DD52-933682D2DF7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28B226F-A3A6-EA7C-A607-6CD5AF3330FB}"/>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537286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83714-0052-0A15-3F02-E0FA18FE6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6A1E8E6-1415-AF20-D367-B2F5605DAF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EB62531-8276-76FE-9E35-CB11344A7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D3611-AB63-4986-471C-CCB30D79CF0E}"/>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6" name="Footer Placeholder 5">
            <a:extLst>
              <a:ext uri="{FF2B5EF4-FFF2-40B4-BE49-F238E27FC236}">
                <a16:creationId xmlns:a16="http://schemas.microsoft.com/office/drawing/2014/main" id="{8C9CB0BB-5D3F-DCA5-0E31-F0A8641863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9D8F1F-3205-63F4-DA36-77F7C749CF73}"/>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2981168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1B59-47C3-ABE0-B542-4EC314E20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165291-0C4D-280F-A16F-F2AD32475A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0B21E01-E744-4D01-719A-B23C4ABA4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DC628-AF10-F73F-D735-597617D1B35D}"/>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6" name="Footer Placeholder 5">
            <a:extLst>
              <a:ext uri="{FF2B5EF4-FFF2-40B4-BE49-F238E27FC236}">
                <a16:creationId xmlns:a16="http://schemas.microsoft.com/office/drawing/2014/main" id="{C63557EE-77E2-F247-492D-03DC59F5AF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011EDC-F5BD-BB2A-4F56-069388ED9235}"/>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156643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C85CC-3570-C149-7819-116751AA8EF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C9FF9B9-7073-DA93-B2C9-98D4A882E4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58FB76-79D8-542E-0862-967D5C7E62E3}"/>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0855D869-7DC6-1D24-D66B-45CDA78322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BBA2E8-0E1F-F9FD-D5F7-2E8FBB3C2A9C}"/>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4096156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DE319-4816-7C78-173E-7CBEE73E4C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152781-BF55-476D-AF2F-475085B13D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C60A83-8479-E0BB-9792-E7AD527E5E13}"/>
              </a:ext>
            </a:extLst>
          </p:cNvPr>
          <p:cNvSpPr>
            <a:spLocks noGrp="1"/>
          </p:cNvSpPr>
          <p:nvPr>
            <p:ph type="dt" sz="half" idx="10"/>
          </p:nvPr>
        </p:nvSpPr>
        <p:spPr/>
        <p:txBody>
          <a:body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4628E9C2-AC34-8FDF-48D1-8774D7E5829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D595D83-8DAD-CBEB-B6AD-17C6106829EE}"/>
              </a:ext>
            </a:extLst>
          </p:cNvPr>
          <p:cNvSpPr>
            <a:spLocks noGrp="1"/>
          </p:cNvSpPr>
          <p:nvPr>
            <p:ph type="sldNum" sz="quarter" idx="12"/>
          </p:nvPr>
        </p:nvSpPr>
        <p:spPr/>
        <p:txBody>
          <a:bodyPr/>
          <a:lstStyle/>
          <a:p>
            <a:fld id="{31A36BF4-88BB-491A-8E04-5991904B110B}" type="slidenum">
              <a:rPr lang="en-GB" smtClean="0"/>
              <a:t>‹#›</a:t>
            </a:fld>
            <a:endParaRPr lang="en-GB"/>
          </a:p>
        </p:txBody>
      </p:sp>
    </p:spTree>
    <p:extLst>
      <p:ext uri="{BB962C8B-B14F-4D97-AF65-F5344CB8AC3E}">
        <p14:creationId xmlns:p14="http://schemas.microsoft.com/office/powerpoint/2010/main" val="2513598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16EC6A-CE45-E77B-333B-A40EC3E7A3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78C6B9-75E2-4545-4352-BABC3EEAA4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B4262-7B20-3F0D-F813-4437DC03F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475109-D86D-4FAD-8065-2A2CFD4223B8}" type="datetimeFigureOut">
              <a:rPr lang="en-GB" smtClean="0"/>
              <a:t>07/04/2026</a:t>
            </a:fld>
            <a:endParaRPr lang="en-GB"/>
          </a:p>
        </p:txBody>
      </p:sp>
      <p:sp>
        <p:nvSpPr>
          <p:cNvPr id="5" name="Footer Placeholder 4">
            <a:extLst>
              <a:ext uri="{FF2B5EF4-FFF2-40B4-BE49-F238E27FC236}">
                <a16:creationId xmlns:a16="http://schemas.microsoft.com/office/drawing/2014/main" id="{6ABE562A-1193-4685-B33E-F847E4C259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76772FD-5723-A895-EB81-0FE712EA41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A36BF4-88BB-491A-8E04-5991904B110B}" type="slidenum">
              <a:rPr lang="en-GB" smtClean="0"/>
              <a:t>‹#›</a:t>
            </a:fld>
            <a:endParaRPr lang="en-GB"/>
          </a:p>
        </p:txBody>
      </p:sp>
    </p:spTree>
    <p:extLst>
      <p:ext uri="{BB962C8B-B14F-4D97-AF65-F5344CB8AC3E}">
        <p14:creationId xmlns:p14="http://schemas.microsoft.com/office/powerpoint/2010/main" val="310102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iscovery.closer.ac.uk/item/uk.cls.bcs70/2b38f0a1-8f31-4417-a8d3-d2ac1ace986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CLOSER-Cohorts/ml-resources/blob/main/projects/am2_project/src/check_for_data.p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rello.com/b/JHist2nG/ai-project" TargetMode="External"/><Relationship Id="rId2" Type="http://schemas.openxmlformats.org/officeDocument/2006/relationships/hyperlink" Target="https://github.com/CLOSER-Cohorts/ml-resources/issu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cikit-learn.org/stable/modules/generated/sklearn.ensemble.IsolationForest.html#sklearn.ensemble.IsolationForest.decision_functio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CLOSER-Cohorts/ml-resources/blob/main/projects/am2_project/config/am2_config.jso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A9A8-7D5D-9276-9055-7A51065E788E}"/>
              </a:ext>
            </a:extLst>
          </p:cNvPr>
          <p:cNvSpPr>
            <a:spLocks noGrp="1"/>
          </p:cNvSpPr>
          <p:nvPr>
            <p:ph type="ctrTitle"/>
          </p:nvPr>
        </p:nvSpPr>
        <p:spPr/>
        <p:txBody>
          <a:bodyPr/>
          <a:lstStyle/>
          <a:p>
            <a:r>
              <a:rPr lang="en-US" dirty="0"/>
              <a:t>AM2 project update</a:t>
            </a:r>
            <a:endParaRPr lang="en-GB" dirty="0"/>
          </a:p>
        </p:txBody>
      </p:sp>
      <p:sp>
        <p:nvSpPr>
          <p:cNvPr id="3" name="Subtitle 2">
            <a:extLst>
              <a:ext uri="{FF2B5EF4-FFF2-40B4-BE49-F238E27FC236}">
                <a16:creationId xmlns:a16="http://schemas.microsoft.com/office/drawing/2014/main" id="{708F1FD0-7F9D-7085-7473-32865198B536}"/>
              </a:ext>
            </a:extLst>
          </p:cNvPr>
          <p:cNvSpPr>
            <a:spLocks noGrp="1"/>
          </p:cNvSpPr>
          <p:nvPr>
            <p:ph type="subTitle" idx="1"/>
          </p:nvPr>
        </p:nvSpPr>
        <p:spPr/>
        <p:txBody>
          <a:bodyPr/>
          <a:lstStyle/>
          <a:p>
            <a:r>
              <a:rPr lang="en-US" dirty="0"/>
              <a:t>Oliver Lyttleton 07/04/2026</a:t>
            </a:r>
            <a:endParaRPr lang="en-GB" dirty="0"/>
          </a:p>
        </p:txBody>
      </p:sp>
    </p:spTree>
    <p:extLst>
      <p:ext uri="{BB962C8B-B14F-4D97-AF65-F5344CB8AC3E}">
        <p14:creationId xmlns:p14="http://schemas.microsoft.com/office/powerpoint/2010/main" val="145614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5CDBF-670E-3CE7-C262-0D069D6FD41B}"/>
              </a:ext>
            </a:extLst>
          </p:cNvPr>
          <p:cNvSpPr>
            <a:spLocks noGrp="1"/>
          </p:cNvSpPr>
          <p:nvPr>
            <p:ph type="title"/>
          </p:nvPr>
        </p:nvSpPr>
        <p:spPr/>
        <p:txBody>
          <a:bodyPr/>
          <a:lstStyle/>
          <a:p>
            <a:r>
              <a:rPr lang="en-US" dirty="0"/>
              <a:t>I work for CLOSER…</a:t>
            </a:r>
            <a:endParaRPr lang="en-GB" dirty="0"/>
          </a:p>
        </p:txBody>
      </p:sp>
      <p:sp>
        <p:nvSpPr>
          <p:cNvPr id="3" name="Content Placeholder 2">
            <a:extLst>
              <a:ext uri="{FF2B5EF4-FFF2-40B4-BE49-F238E27FC236}">
                <a16:creationId xmlns:a16="http://schemas.microsoft.com/office/drawing/2014/main" id="{57FCE497-FA2C-6EF9-3789-7F0089408050}"/>
              </a:ext>
            </a:extLst>
          </p:cNvPr>
          <p:cNvSpPr>
            <a:spLocks noGrp="1"/>
          </p:cNvSpPr>
          <p:nvPr>
            <p:ph idx="1"/>
          </p:nvPr>
        </p:nvSpPr>
        <p:spPr/>
        <p:txBody>
          <a:bodyPr/>
          <a:lstStyle/>
          <a:p>
            <a:r>
              <a:rPr lang="en-GB" dirty="0"/>
              <a:t>The CLOSER project collects a large number of questions and variables from UK longitudinal population studies. We enable researchers to discover data of interest by using a web portal to browse questions and variables, or by querying a REST API to get data programmatically from the repository our data is stored in.</a:t>
            </a:r>
          </a:p>
          <a:p>
            <a:endParaRPr lang="en-GB" dirty="0"/>
          </a:p>
        </p:txBody>
      </p:sp>
    </p:spTree>
    <p:extLst>
      <p:ext uri="{BB962C8B-B14F-4D97-AF65-F5344CB8AC3E}">
        <p14:creationId xmlns:p14="http://schemas.microsoft.com/office/powerpoint/2010/main" val="3929693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4724A-2738-89D2-3F0F-19C630CBDA39}"/>
              </a:ext>
            </a:extLst>
          </p:cNvPr>
          <p:cNvSpPr>
            <a:spLocks noGrp="1"/>
          </p:cNvSpPr>
          <p:nvPr>
            <p:ph type="title"/>
          </p:nvPr>
        </p:nvSpPr>
        <p:spPr/>
        <p:txBody>
          <a:bodyPr>
            <a:noAutofit/>
          </a:bodyPr>
          <a:lstStyle/>
          <a:p>
            <a:r>
              <a:rPr lang="en-US" sz="3200" dirty="0"/>
              <a:t>This is the website (discovery.closer.ac.uk) used to explore our data. Here is a study, it references items such as datasets, questionnaires, etc. Those items reference other items as well.</a:t>
            </a:r>
            <a:endParaRPr lang="en-GB" sz="3200" dirty="0"/>
          </a:p>
        </p:txBody>
      </p:sp>
      <p:pic>
        <p:nvPicPr>
          <p:cNvPr id="5" name="Picture 4">
            <a:extLst>
              <a:ext uri="{FF2B5EF4-FFF2-40B4-BE49-F238E27FC236}">
                <a16:creationId xmlns:a16="http://schemas.microsoft.com/office/drawing/2014/main" id="{AAE09B8E-90E8-C414-6EA9-653D74F04A43}"/>
              </a:ext>
            </a:extLst>
          </p:cNvPr>
          <p:cNvPicPr>
            <a:picLocks noChangeAspect="1"/>
          </p:cNvPicPr>
          <p:nvPr/>
        </p:nvPicPr>
        <p:blipFill>
          <a:blip r:embed="rId2"/>
          <a:stretch>
            <a:fillRect/>
          </a:stretch>
        </p:blipFill>
        <p:spPr>
          <a:xfrm>
            <a:off x="2469956" y="1953867"/>
            <a:ext cx="6597844" cy="4627735"/>
          </a:xfrm>
          <a:prstGeom prst="rect">
            <a:avLst/>
          </a:prstGeom>
        </p:spPr>
      </p:pic>
    </p:spTree>
    <p:extLst>
      <p:ext uri="{BB962C8B-B14F-4D97-AF65-F5344CB8AC3E}">
        <p14:creationId xmlns:p14="http://schemas.microsoft.com/office/powerpoint/2010/main" val="700654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FAA7-23B9-CCFB-BDBC-5D8509591AA1}"/>
              </a:ext>
            </a:extLst>
          </p:cNvPr>
          <p:cNvSpPr>
            <a:spLocks noGrp="1"/>
          </p:cNvSpPr>
          <p:nvPr>
            <p:ph type="title"/>
          </p:nvPr>
        </p:nvSpPr>
        <p:spPr/>
        <p:txBody>
          <a:bodyPr>
            <a:normAutofit/>
          </a:bodyPr>
          <a:lstStyle/>
          <a:p>
            <a:r>
              <a:rPr lang="en-US" sz="2800" dirty="0"/>
              <a:t>Items are described using DDI-XML. Here is a question item, note that it has a ‘</a:t>
            </a:r>
            <a:r>
              <a:rPr lang="en-US" sz="2800" dirty="0" err="1"/>
              <a:t>CodeListReference</a:t>
            </a:r>
            <a:r>
              <a:rPr lang="en-US" sz="2800" dirty="0"/>
              <a:t>’; the </a:t>
            </a:r>
            <a:r>
              <a:rPr lang="en-US" sz="2800" dirty="0" err="1"/>
              <a:t>codelist</a:t>
            </a:r>
            <a:r>
              <a:rPr lang="en-US" sz="2800" dirty="0"/>
              <a:t> represents the multiple choice options for the question. Our REST API can be used to get this XML data.</a:t>
            </a:r>
            <a:endParaRPr lang="en-GB" sz="2800" dirty="0"/>
          </a:p>
        </p:txBody>
      </p:sp>
      <p:pic>
        <p:nvPicPr>
          <p:cNvPr id="5" name="Picture 4">
            <a:extLst>
              <a:ext uri="{FF2B5EF4-FFF2-40B4-BE49-F238E27FC236}">
                <a16:creationId xmlns:a16="http://schemas.microsoft.com/office/drawing/2014/main" id="{FDA0D136-8B98-43FC-9ADF-5E0661397470}"/>
              </a:ext>
            </a:extLst>
          </p:cNvPr>
          <p:cNvPicPr>
            <a:picLocks noChangeAspect="1"/>
          </p:cNvPicPr>
          <p:nvPr/>
        </p:nvPicPr>
        <p:blipFill>
          <a:blip r:embed="rId2"/>
          <a:stretch>
            <a:fillRect/>
          </a:stretch>
        </p:blipFill>
        <p:spPr>
          <a:xfrm>
            <a:off x="1404257" y="1832376"/>
            <a:ext cx="8576589" cy="4855924"/>
          </a:xfrm>
          <a:prstGeom prst="rect">
            <a:avLst/>
          </a:prstGeom>
        </p:spPr>
      </p:pic>
    </p:spTree>
    <p:extLst>
      <p:ext uri="{BB962C8B-B14F-4D97-AF65-F5344CB8AC3E}">
        <p14:creationId xmlns:p14="http://schemas.microsoft.com/office/powerpoint/2010/main" val="388255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DBC6-C18E-2D9B-403B-19531809AC3C}"/>
              </a:ext>
            </a:extLst>
          </p:cNvPr>
          <p:cNvSpPr>
            <a:spLocks noGrp="1"/>
          </p:cNvSpPr>
          <p:nvPr>
            <p:ph type="title"/>
          </p:nvPr>
        </p:nvSpPr>
        <p:spPr/>
        <p:txBody>
          <a:bodyPr/>
          <a:lstStyle/>
          <a:p>
            <a:r>
              <a:rPr lang="en-US" dirty="0"/>
              <a:t>Our data is like a graph database: items are nodes, and can reference each other…</a:t>
            </a:r>
            <a:endParaRPr lang="en-GB" dirty="0"/>
          </a:p>
        </p:txBody>
      </p:sp>
      <p:pic>
        <p:nvPicPr>
          <p:cNvPr id="5" name="Picture 4">
            <a:extLst>
              <a:ext uri="{FF2B5EF4-FFF2-40B4-BE49-F238E27FC236}">
                <a16:creationId xmlns:a16="http://schemas.microsoft.com/office/drawing/2014/main" id="{01C4A390-3F6B-FF36-DE06-490FEF42D0AE}"/>
              </a:ext>
            </a:extLst>
          </p:cNvPr>
          <p:cNvPicPr>
            <a:picLocks noChangeAspect="1"/>
          </p:cNvPicPr>
          <p:nvPr/>
        </p:nvPicPr>
        <p:blipFill>
          <a:blip r:embed="rId2"/>
          <a:stretch>
            <a:fillRect/>
          </a:stretch>
        </p:blipFill>
        <p:spPr>
          <a:xfrm>
            <a:off x="1632856" y="1941008"/>
            <a:ext cx="8195685" cy="4726943"/>
          </a:xfrm>
          <a:prstGeom prst="rect">
            <a:avLst/>
          </a:prstGeom>
        </p:spPr>
      </p:pic>
    </p:spTree>
    <p:extLst>
      <p:ext uri="{BB962C8B-B14F-4D97-AF65-F5344CB8AC3E}">
        <p14:creationId xmlns:p14="http://schemas.microsoft.com/office/powerpoint/2010/main" val="124355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544E9-2EB3-05BB-BC60-142553B66479}"/>
              </a:ext>
            </a:extLst>
          </p:cNvPr>
          <p:cNvSpPr>
            <a:spLocks noGrp="1"/>
          </p:cNvSpPr>
          <p:nvPr>
            <p:ph type="title"/>
          </p:nvPr>
        </p:nvSpPr>
        <p:spPr/>
        <p:txBody>
          <a:bodyPr>
            <a:noAutofit/>
          </a:bodyPr>
          <a:lstStyle/>
          <a:p>
            <a:r>
              <a:rPr lang="en-US" sz="2400" dirty="0"/>
              <a:t>You can represent the relationships that an item has with other items as a vector of numeric values. Below is an example of the relationships that a variable has with other items: (5=directly references, 1 = transitively/indirectly referenced i.e. </a:t>
            </a:r>
            <a:br>
              <a:rPr lang="en-US" sz="2400" dirty="0"/>
            </a:br>
            <a:r>
              <a:rPr lang="en-US" sz="2400" dirty="0"/>
              <a:t>Variable Set-&gt;Variable Statistic-&gt; Variable, 0 = no relationship)</a:t>
            </a:r>
            <a:endParaRPr lang="en-GB" sz="2400" dirty="0"/>
          </a:p>
        </p:txBody>
      </p:sp>
      <p:pic>
        <p:nvPicPr>
          <p:cNvPr id="5" name="Picture 4">
            <a:extLst>
              <a:ext uri="{FF2B5EF4-FFF2-40B4-BE49-F238E27FC236}">
                <a16:creationId xmlns:a16="http://schemas.microsoft.com/office/drawing/2014/main" id="{C35853DA-23DE-6A2C-0D85-E71B0C1D4E58}"/>
              </a:ext>
            </a:extLst>
          </p:cNvPr>
          <p:cNvPicPr>
            <a:picLocks noChangeAspect="1"/>
          </p:cNvPicPr>
          <p:nvPr/>
        </p:nvPicPr>
        <p:blipFill>
          <a:blip r:embed="rId2"/>
          <a:stretch>
            <a:fillRect/>
          </a:stretch>
        </p:blipFill>
        <p:spPr>
          <a:xfrm>
            <a:off x="1244358" y="2108148"/>
            <a:ext cx="9964541" cy="3991532"/>
          </a:xfrm>
          <a:prstGeom prst="rect">
            <a:avLst/>
          </a:prstGeom>
        </p:spPr>
      </p:pic>
    </p:spTree>
    <p:extLst>
      <p:ext uri="{BB962C8B-B14F-4D97-AF65-F5344CB8AC3E}">
        <p14:creationId xmlns:p14="http://schemas.microsoft.com/office/powerpoint/2010/main" val="223202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305D7-2674-C768-C9EB-82B8B3EB8E90}"/>
              </a:ext>
            </a:extLst>
          </p:cNvPr>
          <p:cNvSpPr>
            <a:spLocks noGrp="1"/>
          </p:cNvSpPr>
          <p:nvPr>
            <p:ph type="title"/>
          </p:nvPr>
        </p:nvSpPr>
        <p:spPr/>
        <p:txBody>
          <a:bodyPr/>
          <a:lstStyle/>
          <a:p>
            <a:r>
              <a:rPr lang="en-US" dirty="0"/>
              <a:t>We want to find ‘anomalies’…</a:t>
            </a:r>
            <a:endParaRPr lang="en-GB" dirty="0"/>
          </a:p>
        </p:txBody>
      </p:sp>
      <p:sp>
        <p:nvSpPr>
          <p:cNvPr id="3" name="Content Placeholder 2">
            <a:extLst>
              <a:ext uri="{FF2B5EF4-FFF2-40B4-BE49-F238E27FC236}">
                <a16:creationId xmlns:a16="http://schemas.microsoft.com/office/drawing/2014/main" id="{4C74AEDE-7693-39A7-C2AD-81A5FE17B422}"/>
              </a:ext>
            </a:extLst>
          </p:cNvPr>
          <p:cNvSpPr>
            <a:spLocks noGrp="1"/>
          </p:cNvSpPr>
          <p:nvPr>
            <p:ph idx="1"/>
          </p:nvPr>
        </p:nvSpPr>
        <p:spPr/>
        <p:txBody>
          <a:bodyPr>
            <a:normAutofit fontScale="92500"/>
          </a:bodyPr>
          <a:lstStyle/>
          <a:p>
            <a:pPr lvl="0"/>
            <a:r>
              <a:rPr lang="en-GB" dirty="0"/>
              <a:t>We want to find items which are ‘anomalies’; they’re either connected to another item they shouldn’t be, OR they’re not connected to an item that they should be.</a:t>
            </a:r>
          </a:p>
          <a:p>
            <a:pPr lvl="0"/>
            <a:r>
              <a:rPr lang="en-GB" dirty="0"/>
              <a:t>Anomalies cause problems in the web front end (items aren’t displayed correctly, items can have missing information, or irrelevant/confusing information, etc.) </a:t>
            </a:r>
          </a:p>
          <a:p>
            <a:pPr lvl="0"/>
            <a:r>
              <a:rPr lang="en-GB" dirty="0"/>
              <a:t>Anomalies also cause problems when executing queries against the REST API we use to expose our data; if there isn’t a direct path from one item to another, certain queries won’t work. For example, a variable item that isn’t referenced by a dataset item won’t be returned in a query that requests all the variables in that dataset.</a:t>
            </a:r>
          </a:p>
          <a:p>
            <a:endParaRPr lang="en-GB" dirty="0"/>
          </a:p>
        </p:txBody>
      </p:sp>
    </p:spTree>
    <p:extLst>
      <p:ext uri="{BB962C8B-B14F-4D97-AF65-F5344CB8AC3E}">
        <p14:creationId xmlns:p14="http://schemas.microsoft.com/office/powerpoint/2010/main" val="238060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52304-B910-9B61-9397-A62492CCCF75}"/>
              </a:ext>
            </a:extLst>
          </p:cNvPr>
          <p:cNvSpPr>
            <a:spLocks noGrp="1"/>
          </p:cNvSpPr>
          <p:nvPr>
            <p:ph type="title"/>
          </p:nvPr>
        </p:nvSpPr>
        <p:spPr/>
        <p:txBody>
          <a:bodyPr/>
          <a:lstStyle/>
          <a:p>
            <a:r>
              <a:rPr lang="en-US" dirty="0"/>
              <a:t>Why do we need ML for this?</a:t>
            </a:r>
            <a:endParaRPr lang="en-GB" dirty="0"/>
          </a:p>
        </p:txBody>
      </p:sp>
      <p:sp>
        <p:nvSpPr>
          <p:cNvPr id="3" name="Content Placeholder 2">
            <a:extLst>
              <a:ext uri="{FF2B5EF4-FFF2-40B4-BE49-F238E27FC236}">
                <a16:creationId xmlns:a16="http://schemas.microsoft.com/office/drawing/2014/main" id="{1B022E11-87BC-E5EB-FC5B-A5DE61F30B8B}"/>
              </a:ext>
            </a:extLst>
          </p:cNvPr>
          <p:cNvSpPr>
            <a:spLocks noGrp="1"/>
          </p:cNvSpPr>
          <p:nvPr>
            <p:ph idx="1"/>
          </p:nvPr>
        </p:nvSpPr>
        <p:spPr/>
        <p:txBody>
          <a:bodyPr>
            <a:normAutofit fontScale="92500" lnSpcReduction="20000"/>
          </a:bodyPr>
          <a:lstStyle/>
          <a:p>
            <a:pPr lvl="0"/>
            <a:r>
              <a:rPr lang="en-GB" dirty="0"/>
              <a:t>Hard-coding rules for all potential anomalies is too time-consuming and difficult. There are too many potential relationships between items/item types, it’s too time consuming to create and maintain this list of rules. It also requires ‘expert knowledge’ that CLOSER staff may not have; we may not know that a certain relationship between items is required or problematic. The DDI-XML datatypes and schemas used in our system may change over time, requiring us to continuously create new rules, or abandon old rules.</a:t>
            </a:r>
          </a:p>
          <a:p>
            <a:pPr lvl="0"/>
            <a:r>
              <a:rPr lang="en-GB" dirty="0"/>
              <a:t>Also, it’s important to remember that an outlier is NOT the same as an anomaly – just because an item has an unusual relationship with another item type, doesn’t mean that’s a problem. In our context, unusual is not equal to anomalous. </a:t>
            </a:r>
          </a:p>
          <a:p>
            <a:pPr lvl="0"/>
            <a:r>
              <a:rPr lang="en-GB" dirty="0"/>
              <a:t>Could an ML model can be used to predict anomalous items from existing data?</a:t>
            </a:r>
          </a:p>
        </p:txBody>
      </p:sp>
    </p:spTree>
    <p:extLst>
      <p:ext uri="{BB962C8B-B14F-4D97-AF65-F5344CB8AC3E}">
        <p14:creationId xmlns:p14="http://schemas.microsoft.com/office/powerpoint/2010/main" val="469453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B28C4-FCC0-8026-1DC9-CE0C538AC2EC}"/>
              </a:ext>
            </a:extLst>
          </p:cNvPr>
          <p:cNvSpPr>
            <a:spLocks noGrp="1"/>
          </p:cNvSpPr>
          <p:nvPr>
            <p:ph type="title"/>
          </p:nvPr>
        </p:nvSpPr>
        <p:spPr/>
        <p:txBody>
          <a:bodyPr>
            <a:normAutofit/>
          </a:bodyPr>
          <a:lstStyle/>
          <a:p>
            <a:r>
              <a:rPr lang="en-US" sz="2400" dirty="0"/>
              <a:t>Can an ML model be trained to predict if an item is anomalous/broken using a set of samples representing item relationships like we saw before? Maybe, but: the item data isn’t labelled as anomalous/non-anomalous…</a:t>
            </a:r>
            <a:endParaRPr lang="en-GB" sz="2400" dirty="0"/>
          </a:p>
        </p:txBody>
      </p:sp>
      <p:pic>
        <p:nvPicPr>
          <p:cNvPr id="7" name="Content Placeholder 3">
            <a:extLst>
              <a:ext uri="{FF2B5EF4-FFF2-40B4-BE49-F238E27FC236}">
                <a16:creationId xmlns:a16="http://schemas.microsoft.com/office/drawing/2014/main" id="{4EA0E624-B721-5345-DF94-6569A90E2C40}"/>
              </a:ext>
            </a:extLst>
          </p:cNvPr>
          <p:cNvPicPr>
            <a:picLocks noGrp="1" noChangeAspect="1"/>
          </p:cNvPicPr>
          <p:nvPr>
            <p:ph idx="1"/>
          </p:nvPr>
        </p:nvPicPr>
        <p:blipFill>
          <a:blip r:embed="rId2"/>
          <a:stretch>
            <a:fillRect/>
          </a:stretch>
        </p:blipFill>
        <p:spPr>
          <a:xfrm>
            <a:off x="1113729" y="2098126"/>
            <a:ext cx="9964541" cy="3991532"/>
          </a:xfrm>
          <a:prstGeom prst="rect">
            <a:avLst/>
          </a:prstGeom>
        </p:spPr>
      </p:pic>
    </p:spTree>
    <p:extLst>
      <p:ext uri="{BB962C8B-B14F-4D97-AF65-F5344CB8AC3E}">
        <p14:creationId xmlns:p14="http://schemas.microsoft.com/office/powerpoint/2010/main" val="2338564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D2782-F92A-6A86-7860-07563BEB04E6}"/>
              </a:ext>
            </a:extLst>
          </p:cNvPr>
          <p:cNvSpPr>
            <a:spLocks noGrp="1"/>
          </p:cNvSpPr>
          <p:nvPr>
            <p:ph type="title"/>
          </p:nvPr>
        </p:nvSpPr>
        <p:spPr/>
        <p:txBody>
          <a:bodyPr/>
          <a:lstStyle/>
          <a:p>
            <a:r>
              <a:rPr lang="en-US" dirty="0"/>
              <a:t>Solution: create a pseudo-labelled training dataset for a supervised learning model…</a:t>
            </a:r>
            <a:endParaRPr lang="en-GB" dirty="0"/>
          </a:p>
        </p:txBody>
      </p:sp>
      <p:sp>
        <p:nvSpPr>
          <p:cNvPr id="3" name="Content Placeholder 2">
            <a:extLst>
              <a:ext uri="{FF2B5EF4-FFF2-40B4-BE49-F238E27FC236}">
                <a16:creationId xmlns:a16="http://schemas.microsoft.com/office/drawing/2014/main" id="{33064E0F-12D3-CFC6-34E3-B5C0C93F4B1E}"/>
              </a:ext>
            </a:extLst>
          </p:cNvPr>
          <p:cNvSpPr>
            <a:spLocks noGrp="1"/>
          </p:cNvSpPr>
          <p:nvPr>
            <p:ph idx="1"/>
          </p:nvPr>
        </p:nvSpPr>
        <p:spPr/>
        <p:txBody>
          <a:bodyPr>
            <a:normAutofit/>
          </a:bodyPr>
          <a:lstStyle/>
          <a:p>
            <a:pPr marL="0" lvl="0" indent="0">
              <a:buNone/>
            </a:pPr>
            <a:endParaRPr lang="en-GB" dirty="0"/>
          </a:p>
          <a:p>
            <a:pPr lvl="0"/>
            <a:r>
              <a:rPr lang="en-GB" dirty="0"/>
              <a:t>We can create a pseudo-labelled training dataset for a supervised learning model using PCA, </a:t>
            </a:r>
            <a:r>
              <a:rPr lang="en-GB" dirty="0" err="1"/>
              <a:t>IsolationForests</a:t>
            </a:r>
            <a:r>
              <a:rPr lang="en-GB" dirty="0"/>
              <a:t> and a ‘human in the loop’ </a:t>
            </a:r>
          </a:p>
          <a:p>
            <a:pPr lvl="0"/>
            <a:r>
              <a:rPr lang="en-GB" dirty="0"/>
              <a:t>We take the data representing item relationships, and perform dimension reduction by using PCA. We identify outliers in the </a:t>
            </a:r>
            <a:r>
              <a:rPr lang="en-GB" dirty="0" err="1"/>
              <a:t>pca</a:t>
            </a:r>
            <a:r>
              <a:rPr lang="en-GB" dirty="0"/>
              <a:t> data using a </a:t>
            </a:r>
            <a:r>
              <a:rPr lang="en-GB" dirty="0" err="1"/>
              <a:t>IsolationForest</a:t>
            </a:r>
            <a:r>
              <a:rPr lang="en-GB" dirty="0"/>
              <a:t>. A ‘human in the loop’ examines those outliers and confirms whether they are genuine anomalies OR if they’re just items that are unusual. </a:t>
            </a:r>
          </a:p>
        </p:txBody>
      </p:sp>
    </p:spTree>
    <p:extLst>
      <p:ext uri="{BB962C8B-B14F-4D97-AF65-F5344CB8AC3E}">
        <p14:creationId xmlns:p14="http://schemas.microsoft.com/office/powerpoint/2010/main" val="3378047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59F7-6AB7-7E1F-6698-90BB2275C603}"/>
              </a:ext>
            </a:extLst>
          </p:cNvPr>
          <p:cNvSpPr>
            <a:spLocks noGrp="1"/>
          </p:cNvSpPr>
          <p:nvPr>
            <p:ph type="title"/>
          </p:nvPr>
        </p:nvSpPr>
        <p:spPr/>
        <p:txBody>
          <a:bodyPr>
            <a:noAutofit/>
          </a:bodyPr>
          <a:lstStyle/>
          <a:p>
            <a:r>
              <a:rPr lang="en-US" sz="3200" dirty="0"/>
              <a:t>So we can go from a set of numeric vectors representing item relationships, to a PCA plot which shows outliers identified using an </a:t>
            </a:r>
            <a:r>
              <a:rPr lang="en-US" sz="3200" dirty="0" err="1"/>
              <a:t>IsolationForest</a:t>
            </a:r>
            <a:r>
              <a:rPr lang="en-US" sz="3200" dirty="0"/>
              <a:t>, which a human can inspect for anomalies.</a:t>
            </a:r>
            <a:endParaRPr lang="en-GB" sz="3200" dirty="0"/>
          </a:p>
        </p:txBody>
      </p:sp>
      <p:pic>
        <p:nvPicPr>
          <p:cNvPr id="7" name="Content Placeholder 6">
            <a:extLst>
              <a:ext uri="{FF2B5EF4-FFF2-40B4-BE49-F238E27FC236}">
                <a16:creationId xmlns:a16="http://schemas.microsoft.com/office/drawing/2014/main" id="{58A8658A-8FC7-AB25-438F-EEB1CD5BD400}"/>
              </a:ext>
            </a:extLst>
          </p:cNvPr>
          <p:cNvPicPr>
            <a:picLocks noGrp="1" noChangeAspect="1"/>
          </p:cNvPicPr>
          <p:nvPr>
            <p:ph idx="1"/>
          </p:nvPr>
        </p:nvPicPr>
        <p:blipFill>
          <a:blip r:embed="rId2"/>
          <a:stretch>
            <a:fillRect/>
          </a:stretch>
        </p:blipFill>
        <p:spPr>
          <a:xfrm>
            <a:off x="7004001" y="2079695"/>
            <a:ext cx="3953427" cy="3886742"/>
          </a:xfrm>
          <a:prstGeom prst="rect">
            <a:avLst/>
          </a:prstGeom>
        </p:spPr>
      </p:pic>
      <p:pic>
        <p:nvPicPr>
          <p:cNvPr id="9" name="Picture 8">
            <a:extLst>
              <a:ext uri="{FF2B5EF4-FFF2-40B4-BE49-F238E27FC236}">
                <a16:creationId xmlns:a16="http://schemas.microsoft.com/office/drawing/2014/main" id="{8A0515A1-8691-FFA9-E874-EFA8AA292AC1}"/>
              </a:ext>
            </a:extLst>
          </p:cNvPr>
          <p:cNvPicPr>
            <a:picLocks noChangeAspect="1"/>
          </p:cNvPicPr>
          <p:nvPr/>
        </p:nvPicPr>
        <p:blipFill>
          <a:blip r:embed="rId3"/>
          <a:stretch>
            <a:fillRect/>
          </a:stretch>
        </p:blipFill>
        <p:spPr>
          <a:xfrm>
            <a:off x="838200" y="2432169"/>
            <a:ext cx="4001058" cy="3181794"/>
          </a:xfrm>
          <a:prstGeom prst="rect">
            <a:avLst/>
          </a:prstGeom>
        </p:spPr>
      </p:pic>
      <p:cxnSp>
        <p:nvCxnSpPr>
          <p:cNvPr id="11" name="Straight Arrow Connector 10">
            <a:extLst>
              <a:ext uri="{FF2B5EF4-FFF2-40B4-BE49-F238E27FC236}">
                <a16:creationId xmlns:a16="http://schemas.microsoft.com/office/drawing/2014/main" id="{97F0ACBA-282B-85E5-AEF8-D75CE08775D2}"/>
              </a:ext>
            </a:extLst>
          </p:cNvPr>
          <p:cNvCxnSpPr/>
          <p:nvPr/>
        </p:nvCxnSpPr>
        <p:spPr>
          <a:xfrm>
            <a:off x="5181600" y="4103914"/>
            <a:ext cx="1545771" cy="0"/>
          </a:xfrm>
          <a:prstGeom prst="straightConnector1">
            <a:avLst/>
          </a:prstGeom>
          <a:ln w="635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729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7E2C4-9AAF-0672-ED4E-436CBF7E079D}"/>
              </a:ext>
            </a:extLst>
          </p:cNvPr>
          <p:cNvSpPr>
            <a:spLocks noGrp="1"/>
          </p:cNvSpPr>
          <p:nvPr>
            <p:ph type="title"/>
          </p:nvPr>
        </p:nvSpPr>
        <p:spPr/>
        <p:txBody>
          <a:bodyPr/>
          <a:lstStyle/>
          <a:p>
            <a:r>
              <a:rPr lang="en-US" dirty="0"/>
              <a:t>We don’t just want to find outliers/items with unusual relationships…</a:t>
            </a:r>
            <a:endParaRPr lang="en-GB" dirty="0"/>
          </a:p>
        </p:txBody>
      </p:sp>
      <p:sp>
        <p:nvSpPr>
          <p:cNvPr id="3" name="Content Placeholder 2">
            <a:extLst>
              <a:ext uri="{FF2B5EF4-FFF2-40B4-BE49-F238E27FC236}">
                <a16:creationId xmlns:a16="http://schemas.microsoft.com/office/drawing/2014/main" id="{D6A980A8-2421-2E12-BF3F-5D180989E68D}"/>
              </a:ext>
            </a:extLst>
          </p:cNvPr>
          <p:cNvSpPr>
            <a:spLocks noGrp="1"/>
          </p:cNvSpPr>
          <p:nvPr>
            <p:ph idx="1"/>
          </p:nvPr>
        </p:nvSpPr>
        <p:spPr/>
        <p:txBody>
          <a:bodyPr>
            <a:normAutofit lnSpcReduction="10000"/>
          </a:bodyPr>
          <a:lstStyle/>
          <a:p>
            <a:r>
              <a:rPr lang="en-GB" dirty="0"/>
              <a:t>Just because an item’s relationships with other items are unusual, doesn’t mean it’s an anomaly/there’s a problem with it. </a:t>
            </a:r>
          </a:p>
          <a:p>
            <a:r>
              <a:rPr lang="en-GB" dirty="0"/>
              <a:t>Example: </a:t>
            </a:r>
            <a:r>
              <a:rPr lang="en-GB" dirty="0">
                <a:hlinkClick r:id="rId2"/>
              </a:rPr>
              <a:t>https://discovery.closer.ac.uk/item/uk.cls.bcs70/2b38f0a1-8f31-4417-a8d3-d2ac1ace986e</a:t>
            </a:r>
            <a:r>
              <a:rPr lang="en-GB" dirty="0"/>
              <a:t> </a:t>
            </a:r>
          </a:p>
          <a:p>
            <a:r>
              <a:rPr lang="en-GB" dirty="0"/>
              <a:t>This question item has a ‘Related Image’. Most questions don’t have related images. This particular question is unusual in that respect, but there’s nothing wrong/anomalous with it, and it requires no further attention from us.</a:t>
            </a:r>
          </a:p>
          <a:p>
            <a:r>
              <a:rPr lang="en-GB" dirty="0"/>
              <a:t>The ‘human in the loop’ is critical; they will differentiate unusual items from anomalous items.</a:t>
            </a:r>
          </a:p>
          <a:p>
            <a:endParaRPr lang="en-GB" dirty="0"/>
          </a:p>
        </p:txBody>
      </p:sp>
    </p:spTree>
    <p:extLst>
      <p:ext uri="{BB962C8B-B14F-4D97-AF65-F5344CB8AC3E}">
        <p14:creationId xmlns:p14="http://schemas.microsoft.com/office/powerpoint/2010/main" val="3613921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0E9E2-A086-21A9-ADA7-1ACEF3760F07}"/>
              </a:ext>
            </a:extLst>
          </p:cNvPr>
          <p:cNvSpPr>
            <a:spLocks noGrp="1"/>
          </p:cNvSpPr>
          <p:nvPr>
            <p:ph type="title"/>
          </p:nvPr>
        </p:nvSpPr>
        <p:spPr/>
        <p:txBody>
          <a:bodyPr/>
          <a:lstStyle/>
          <a:p>
            <a:r>
              <a:rPr lang="en-US" dirty="0"/>
              <a:t>When we have generated a pseudo-labelled dataset…</a:t>
            </a:r>
            <a:endParaRPr lang="en-GB" dirty="0"/>
          </a:p>
        </p:txBody>
      </p:sp>
      <p:sp>
        <p:nvSpPr>
          <p:cNvPr id="3" name="Content Placeholder 2">
            <a:extLst>
              <a:ext uri="{FF2B5EF4-FFF2-40B4-BE49-F238E27FC236}">
                <a16:creationId xmlns:a16="http://schemas.microsoft.com/office/drawing/2014/main" id="{24047492-E5AA-24CF-2E56-BF325C8AA3A4}"/>
              </a:ext>
            </a:extLst>
          </p:cNvPr>
          <p:cNvSpPr>
            <a:spLocks noGrp="1"/>
          </p:cNvSpPr>
          <p:nvPr>
            <p:ph idx="1"/>
          </p:nvPr>
        </p:nvSpPr>
        <p:spPr/>
        <p:txBody>
          <a:bodyPr>
            <a:normAutofit fontScale="62500" lnSpcReduction="20000"/>
          </a:bodyPr>
          <a:lstStyle/>
          <a:p>
            <a:pPr lvl="0"/>
            <a:r>
              <a:rPr lang="en-GB" sz="3400" dirty="0"/>
              <a:t>A supervised model (e.g. decision tree) is trained on the pseudo-labelled data; the input features are the numbers representing relationships that an item has with other items (as described in previous slides). The target variable (e.g. the ‘</a:t>
            </a:r>
            <a:r>
              <a:rPr lang="en-GB" sz="3400" dirty="0" err="1"/>
              <a:t>IsAnomalyFlag</a:t>
            </a:r>
            <a:r>
              <a:rPr lang="en-GB" sz="3400" dirty="0"/>
              <a:t>’ value in the example below) are the labels generated by the ‘human in the loop’ by examining the </a:t>
            </a:r>
            <a:r>
              <a:rPr lang="en-GB" sz="3400" dirty="0" err="1"/>
              <a:t>IsolationForests</a:t>
            </a:r>
            <a:r>
              <a:rPr lang="en-GB" sz="3400" dirty="0"/>
              <a:t>: 0=fine, 1 =anomaly</a:t>
            </a:r>
          </a:p>
          <a:p>
            <a:pPr lvl="0"/>
            <a:endParaRPr lang="en-GB" sz="3400" dirty="0"/>
          </a:p>
          <a:p>
            <a:r>
              <a:rPr lang="en-GB" dirty="0">
                <a:latin typeface="Cascadia Code" panose="020B0609020000020004" pitchFamily="49" charset="0"/>
                <a:cs typeface="Cascadia Code" panose="020B0609020000020004" pitchFamily="49" charset="0"/>
              </a:rPr>
              <a:t>&gt;&gt;&gt; </a:t>
            </a:r>
            <a:r>
              <a:rPr lang="en-GB" dirty="0" err="1">
                <a:latin typeface="Cascadia Code" panose="020B0609020000020004" pitchFamily="49" charset="0"/>
                <a:cs typeface="Cascadia Code" panose="020B0609020000020004" pitchFamily="49" charset="0"/>
              </a:rPr>
              <a:t>relationships_data_for_training_updated_model</a:t>
            </a:r>
            <a:r>
              <a:rPr lang="en-GB" dirty="0">
                <a:latin typeface="Cascadia Code" panose="020B0609020000020004" pitchFamily="49" charset="0"/>
                <a:cs typeface="Cascadia Code" panose="020B0609020000020004" pitchFamily="49" charset="0"/>
              </a:rPr>
              <a:t>['Variable'].</a:t>
            </a:r>
            <a:r>
              <a:rPr lang="en-GB" dirty="0" err="1">
                <a:latin typeface="Cascadia Code" panose="020B0609020000020004" pitchFamily="49" charset="0"/>
                <a:cs typeface="Cascadia Code" panose="020B0609020000020004" pitchFamily="49" charset="0"/>
              </a:rPr>
              <a:t>iloc</a:t>
            </a:r>
            <a:r>
              <a:rPr lang="en-GB" dirty="0">
                <a:latin typeface="Cascadia Code" panose="020B0609020000020004" pitchFamily="49" charset="0"/>
                <a:cs typeface="Cascadia Code" panose="020B0609020000020004" pitchFamily="49" charset="0"/>
              </a:rPr>
              <a:t>[0]</a:t>
            </a:r>
          </a:p>
          <a:p>
            <a:pPr marL="0" indent="0">
              <a:buNone/>
            </a:pPr>
            <a:r>
              <a:rPr lang="en-GB" dirty="0">
                <a:latin typeface="Cascadia Code" panose="020B0609020000020004" pitchFamily="49" charset="0"/>
                <a:cs typeface="Cascadia Code" panose="020B0609020000020004" pitchFamily="49" charset="0"/>
              </a:rPr>
              <a:t>Category Set               1.0</a:t>
            </a:r>
          </a:p>
          <a:p>
            <a:pPr marL="0" indent="0">
              <a:buNone/>
            </a:pPr>
            <a:r>
              <a:rPr lang="en-GB" dirty="0">
                <a:latin typeface="Cascadia Code" panose="020B0609020000020004" pitchFamily="49" charset="0"/>
                <a:cs typeface="Cascadia Code" panose="020B0609020000020004" pitchFamily="49" charset="0"/>
              </a:rPr>
              <a:t>Question                   5.0</a:t>
            </a:r>
          </a:p>
          <a:p>
            <a:pPr marL="0" indent="0">
              <a:buNone/>
            </a:pPr>
            <a:r>
              <a:rPr lang="en-GB" dirty="0">
                <a:latin typeface="Cascadia Code" panose="020B0609020000020004" pitchFamily="49" charset="0"/>
                <a:cs typeface="Cascadia Code" panose="020B0609020000020004" pitchFamily="49" charset="0"/>
              </a:rPr>
              <a:t>Interviewer Instruction    1.</a:t>
            </a:r>
          </a:p>
          <a:p>
            <a:pPr marL="0" indent="0">
              <a:buNone/>
            </a:pPr>
            <a:r>
              <a:rPr lang="en-GB" dirty="0">
                <a:latin typeface="Cascadia Code" panose="020B0609020000020004" pitchFamily="49" charset="0"/>
                <a:cs typeface="Cascadia Code" panose="020B0609020000020004" pitchFamily="49" charset="0"/>
              </a:rPr>
              <a:t>Question Grid              0.0</a:t>
            </a:r>
          </a:p>
          <a:p>
            <a:pPr marL="0" indent="0">
              <a:buNone/>
            </a:pPr>
            <a:r>
              <a:rPr lang="en-GB" dirty="0">
                <a:latin typeface="Cascadia Code" panose="020B0609020000020004" pitchFamily="49" charset="0"/>
                <a:cs typeface="Cascadia Code" panose="020B0609020000020004" pitchFamily="49" charset="0"/>
              </a:rPr>
              <a:t>…</a:t>
            </a:r>
          </a:p>
          <a:p>
            <a:pPr marL="0" indent="0">
              <a:buNone/>
            </a:pPr>
            <a:r>
              <a:rPr lang="en-GB" dirty="0">
                <a:latin typeface="Cascadia Code" panose="020B0609020000020004" pitchFamily="49" charset="0"/>
                <a:cs typeface="Cascadia Code" panose="020B0609020000020004" pitchFamily="49" charset="0"/>
              </a:rPr>
              <a:t>…</a:t>
            </a:r>
          </a:p>
          <a:p>
            <a:pPr marL="0" indent="0">
              <a:buNone/>
            </a:pPr>
            <a:r>
              <a:rPr lang="en-GB" dirty="0" err="1">
                <a:latin typeface="Cascadia Code" panose="020B0609020000020004" pitchFamily="49" charset="0"/>
                <a:cs typeface="Cascadia Code" panose="020B0609020000020004" pitchFamily="49" charset="0"/>
              </a:rPr>
              <a:t>IsAnomalyFlag</a:t>
            </a:r>
            <a:r>
              <a:rPr lang="en-GB" dirty="0">
                <a:latin typeface="Cascadia Code" panose="020B0609020000020004" pitchFamily="49" charset="0"/>
                <a:cs typeface="Cascadia Code" panose="020B0609020000020004" pitchFamily="49" charset="0"/>
              </a:rPr>
              <a:t>	0.0</a:t>
            </a:r>
          </a:p>
        </p:txBody>
      </p:sp>
    </p:spTree>
    <p:extLst>
      <p:ext uri="{BB962C8B-B14F-4D97-AF65-F5344CB8AC3E}">
        <p14:creationId xmlns:p14="http://schemas.microsoft.com/office/powerpoint/2010/main" val="4152506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8D87-2705-5427-EDD8-266D7D90B370}"/>
              </a:ext>
            </a:extLst>
          </p:cNvPr>
          <p:cNvSpPr>
            <a:spLocks noGrp="1"/>
          </p:cNvSpPr>
          <p:nvPr>
            <p:ph type="title"/>
          </p:nvPr>
        </p:nvSpPr>
        <p:spPr/>
        <p:txBody>
          <a:bodyPr/>
          <a:lstStyle/>
          <a:p>
            <a:r>
              <a:rPr lang="en-US" dirty="0"/>
              <a:t>Model deployment</a:t>
            </a:r>
            <a:endParaRPr lang="en-GB" dirty="0"/>
          </a:p>
        </p:txBody>
      </p:sp>
      <p:sp>
        <p:nvSpPr>
          <p:cNvPr id="3" name="Content Placeholder 2">
            <a:extLst>
              <a:ext uri="{FF2B5EF4-FFF2-40B4-BE49-F238E27FC236}">
                <a16:creationId xmlns:a16="http://schemas.microsoft.com/office/drawing/2014/main" id="{18E37E65-DCFD-04D8-7CB9-D6B3F7B35B3F}"/>
              </a:ext>
            </a:extLst>
          </p:cNvPr>
          <p:cNvSpPr>
            <a:spLocks noGrp="1"/>
          </p:cNvSpPr>
          <p:nvPr>
            <p:ph idx="1"/>
          </p:nvPr>
        </p:nvSpPr>
        <p:spPr/>
        <p:txBody>
          <a:bodyPr>
            <a:normAutofit fontScale="92500" lnSpcReduction="10000"/>
          </a:bodyPr>
          <a:lstStyle/>
          <a:p>
            <a:pPr lvl="0"/>
            <a:r>
              <a:rPr lang="en-GB" dirty="0"/>
              <a:t>We have a batch script that can use the trained decision tree model to detect anomalies (</a:t>
            </a:r>
            <a:r>
              <a:rPr lang="en-GB" dirty="0">
                <a:hlinkClick r:id="rId2"/>
              </a:rPr>
              <a:t>https://github.com/CLOSER-Cohorts/ml-resources/blob/main/projects/am2_project/src/check_for_data.py</a:t>
            </a:r>
            <a:r>
              <a:rPr lang="en-GB" dirty="0"/>
              <a:t>).</a:t>
            </a:r>
          </a:p>
          <a:p>
            <a:r>
              <a:rPr lang="en-GB" dirty="0"/>
              <a:t>The script checks if there is any new data available in the repository. If there are new items, it generates input features for those items (representing their relationships with other items). Those input features are used as input to the decision tree model, which processes them as a batch. </a:t>
            </a:r>
          </a:p>
          <a:p>
            <a:r>
              <a:rPr lang="en-GB" dirty="0"/>
              <a:t>A CI/CD pipeline ensures that the most up-to-date version of the code is always deployed to a Windows server. The Windows Task Scheduler is used to ensure that the script that checks for new items and flags potential anomalies is executed periodically.</a:t>
            </a:r>
          </a:p>
          <a:p>
            <a:pPr marL="0" lvl="0" indent="0">
              <a:buNone/>
            </a:pPr>
            <a:endParaRPr lang="en-GB" dirty="0"/>
          </a:p>
        </p:txBody>
      </p:sp>
    </p:spTree>
    <p:extLst>
      <p:ext uri="{BB962C8B-B14F-4D97-AF65-F5344CB8AC3E}">
        <p14:creationId xmlns:p14="http://schemas.microsoft.com/office/powerpoint/2010/main" val="1369284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E4198-D467-A49A-7B37-D7A26381D900}"/>
              </a:ext>
            </a:extLst>
          </p:cNvPr>
          <p:cNvSpPr>
            <a:spLocks noGrp="1"/>
          </p:cNvSpPr>
          <p:nvPr>
            <p:ph type="title"/>
          </p:nvPr>
        </p:nvSpPr>
        <p:spPr/>
        <p:txBody>
          <a:bodyPr>
            <a:noAutofit/>
          </a:bodyPr>
          <a:lstStyle/>
          <a:p>
            <a:r>
              <a:rPr lang="en-GB" sz="3200" dirty="0"/>
              <a:t>If the decision tree predicts that an item is anomalous, it sends an alert to a Slack channel that is monitored by CLOSER staff…</a:t>
            </a:r>
            <a:br>
              <a:rPr lang="en-GB" sz="3200" dirty="0"/>
            </a:br>
            <a:endParaRPr lang="en-GB" sz="3200" dirty="0"/>
          </a:p>
        </p:txBody>
      </p:sp>
      <p:pic>
        <p:nvPicPr>
          <p:cNvPr id="5" name="Content Placeholder 4">
            <a:extLst>
              <a:ext uri="{FF2B5EF4-FFF2-40B4-BE49-F238E27FC236}">
                <a16:creationId xmlns:a16="http://schemas.microsoft.com/office/drawing/2014/main" id="{677CBB3A-10FA-F73B-2F9F-3E1925E33759}"/>
              </a:ext>
            </a:extLst>
          </p:cNvPr>
          <p:cNvPicPr>
            <a:picLocks noGrp="1" noChangeAspect="1"/>
          </p:cNvPicPr>
          <p:nvPr>
            <p:ph idx="1"/>
          </p:nvPr>
        </p:nvPicPr>
        <p:blipFill>
          <a:blip r:embed="rId2"/>
          <a:stretch>
            <a:fillRect/>
          </a:stretch>
        </p:blipFill>
        <p:spPr>
          <a:xfrm>
            <a:off x="3362467" y="1825625"/>
            <a:ext cx="5467066" cy="4351338"/>
          </a:xfrm>
          <a:prstGeom prst="rect">
            <a:avLst/>
          </a:prstGeom>
        </p:spPr>
      </p:pic>
    </p:spTree>
    <p:extLst>
      <p:ext uri="{BB962C8B-B14F-4D97-AF65-F5344CB8AC3E}">
        <p14:creationId xmlns:p14="http://schemas.microsoft.com/office/powerpoint/2010/main" val="3616922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D8891-8E15-DEEC-3798-3F40591D0C4E}"/>
              </a:ext>
            </a:extLst>
          </p:cNvPr>
          <p:cNvSpPr>
            <a:spLocks noGrp="1"/>
          </p:cNvSpPr>
          <p:nvPr>
            <p:ph type="title"/>
          </p:nvPr>
        </p:nvSpPr>
        <p:spPr/>
        <p:txBody>
          <a:bodyPr/>
          <a:lstStyle/>
          <a:p>
            <a:r>
              <a:rPr lang="en-US" dirty="0"/>
              <a:t>After being alerted via the Slack monitoring channel…</a:t>
            </a:r>
            <a:endParaRPr lang="en-GB" dirty="0"/>
          </a:p>
        </p:txBody>
      </p:sp>
      <p:sp>
        <p:nvSpPr>
          <p:cNvPr id="3" name="Content Placeholder 2">
            <a:extLst>
              <a:ext uri="{FF2B5EF4-FFF2-40B4-BE49-F238E27FC236}">
                <a16:creationId xmlns:a16="http://schemas.microsoft.com/office/drawing/2014/main" id="{7B6B943A-E3DB-0587-E29D-5FDA2BA1E608}"/>
              </a:ext>
            </a:extLst>
          </p:cNvPr>
          <p:cNvSpPr>
            <a:spLocks noGrp="1"/>
          </p:cNvSpPr>
          <p:nvPr>
            <p:ph idx="1"/>
          </p:nvPr>
        </p:nvSpPr>
        <p:spPr/>
        <p:txBody>
          <a:bodyPr/>
          <a:lstStyle/>
          <a:p>
            <a:pPr lvl="0"/>
            <a:r>
              <a:rPr lang="en-GB" dirty="0"/>
              <a:t>CLOSER staff can inspect the items flagged by the model and decide what (if any) remedial action should be taken. </a:t>
            </a:r>
          </a:p>
          <a:p>
            <a:pPr lvl="0"/>
            <a:r>
              <a:rPr lang="en-GB" dirty="0"/>
              <a:t>They can also record if the model predictions were correct. This information can be used both to calculate performance metrics for the model, and also for creating new datasets for retraining the model.</a:t>
            </a:r>
          </a:p>
          <a:p>
            <a:endParaRPr lang="en-GB" dirty="0"/>
          </a:p>
          <a:p>
            <a:endParaRPr lang="en-GB" dirty="0"/>
          </a:p>
        </p:txBody>
      </p:sp>
    </p:spTree>
    <p:extLst>
      <p:ext uri="{BB962C8B-B14F-4D97-AF65-F5344CB8AC3E}">
        <p14:creationId xmlns:p14="http://schemas.microsoft.com/office/powerpoint/2010/main" val="3733543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B68FF-14E9-660E-87BE-AE70CFDFF90D}"/>
              </a:ext>
            </a:extLst>
          </p:cNvPr>
          <p:cNvSpPr>
            <a:spLocks noGrp="1"/>
          </p:cNvSpPr>
          <p:nvPr>
            <p:ph type="title"/>
          </p:nvPr>
        </p:nvSpPr>
        <p:spPr/>
        <p:txBody>
          <a:bodyPr/>
          <a:lstStyle/>
          <a:p>
            <a:r>
              <a:rPr lang="en-US" dirty="0"/>
              <a:t>What have we done, what will we do in future</a:t>
            </a:r>
            <a:endParaRPr lang="en-GB" dirty="0"/>
          </a:p>
        </p:txBody>
      </p:sp>
      <p:sp>
        <p:nvSpPr>
          <p:cNvPr id="3" name="Content Placeholder 2">
            <a:extLst>
              <a:ext uri="{FF2B5EF4-FFF2-40B4-BE49-F238E27FC236}">
                <a16:creationId xmlns:a16="http://schemas.microsoft.com/office/drawing/2014/main" id="{3567E4CF-CEBB-628F-67BC-9870E1213ED9}"/>
              </a:ext>
            </a:extLst>
          </p:cNvPr>
          <p:cNvSpPr>
            <a:spLocks noGrp="1"/>
          </p:cNvSpPr>
          <p:nvPr>
            <p:ph idx="1"/>
          </p:nvPr>
        </p:nvSpPr>
        <p:spPr/>
        <p:txBody>
          <a:bodyPr/>
          <a:lstStyle/>
          <a:p>
            <a:r>
              <a:rPr lang="en-GB" dirty="0">
                <a:hlinkClick r:id="rId2"/>
              </a:rPr>
              <a:t>https://github.com/CLOSER-Cohorts/ml-resources/issues</a:t>
            </a:r>
            <a:r>
              <a:rPr lang="en-GB" dirty="0"/>
              <a:t> shows what we’ve already done (in the ‘Closed’ section) and what we’re currently working on.</a:t>
            </a:r>
          </a:p>
          <a:p>
            <a:r>
              <a:rPr lang="en-GB" dirty="0">
                <a:hlinkClick r:id="rId3"/>
              </a:rPr>
              <a:t>https://trello.com/b/JHist2nG/ai-project</a:t>
            </a:r>
            <a:r>
              <a:rPr lang="en-GB" dirty="0"/>
              <a:t> also shows what we’ve done/will do in future; it replicates much of the information in the </a:t>
            </a:r>
            <a:r>
              <a:rPr lang="en-GB" dirty="0" err="1"/>
              <a:t>github</a:t>
            </a:r>
            <a:r>
              <a:rPr lang="en-GB" dirty="0"/>
              <a:t> issue tracker but it also has a backlog of items representing work we will do in future, and it shows the current status of work more clearly</a:t>
            </a:r>
          </a:p>
        </p:txBody>
      </p:sp>
    </p:spTree>
    <p:extLst>
      <p:ext uri="{BB962C8B-B14F-4D97-AF65-F5344CB8AC3E}">
        <p14:creationId xmlns:p14="http://schemas.microsoft.com/office/powerpoint/2010/main" val="2071337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DE3E5-E85D-DE56-CACD-771A1105D2FE}"/>
              </a:ext>
            </a:extLst>
          </p:cNvPr>
          <p:cNvSpPr>
            <a:spLocks noGrp="1"/>
          </p:cNvSpPr>
          <p:nvPr>
            <p:ph type="title"/>
          </p:nvPr>
        </p:nvSpPr>
        <p:spPr/>
        <p:txBody>
          <a:bodyPr/>
          <a:lstStyle/>
          <a:p>
            <a:r>
              <a:rPr lang="en-US" dirty="0"/>
              <a:t>What we could monitor</a:t>
            </a:r>
            <a:endParaRPr lang="en-GB" dirty="0"/>
          </a:p>
        </p:txBody>
      </p:sp>
      <p:sp>
        <p:nvSpPr>
          <p:cNvPr id="3" name="Content Placeholder 2">
            <a:extLst>
              <a:ext uri="{FF2B5EF4-FFF2-40B4-BE49-F238E27FC236}">
                <a16:creationId xmlns:a16="http://schemas.microsoft.com/office/drawing/2014/main" id="{33B8CCCD-CF05-F7C9-8FB5-B21964C5A2C5}"/>
              </a:ext>
            </a:extLst>
          </p:cNvPr>
          <p:cNvSpPr>
            <a:spLocks noGrp="1"/>
          </p:cNvSpPr>
          <p:nvPr>
            <p:ph idx="1"/>
          </p:nvPr>
        </p:nvSpPr>
        <p:spPr/>
        <p:txBody>
          <a:bodyPr>
            <a:noAutofit/>
          </a:bodyPr>
          <a:lstStyle/>
          <a:p>
            <a:r>
              <a:rPr lang="en-US" sz="2200" dirty="0"/>
              <a:t>Model performance – primarily precision. We *might* measure recall, but as we don’t have labelled data that might not be feasible. Accuracy is not a useful metric; we don’t have labelled data and just outputting the majority class in the data will give a very high accuracy.</a:t>
            </a:r>
          </a:p>
          <a:p>
            <a:r>
              <a:rPr lang="en-US" sz="2200" dirty="0"/>
              <a:t>Data drift – monitor the anomaly score calculated by the isolation forest for the input features (</a:t>
            </a:r>
            <a:r>
              <a:rPr lang="en-US" sz="2200" dirty="0">
                <a:hlinkClick r:id="rId2"/>
              </a:rPr>
              <a:t>https://scikit-learn.org/stable/modules/generated/sklearn.ensemble.IsolationForest.html#sklearn.ensemble.IsolationForest.decision_function</a:t>
            </a:r>
            <a:r>
              <a:rPr lang="en-US" sz="2200" dirty="0"/>
              <a:t>). Gather summary statistics for the anomaly score (e.g. mean/min/max/distribution). Check for data drift/dramatic changes in these summary statistics. We can monitor the number of outliers detected by the Isolation Forest which turn out to be anomalies, and check for sudden spikes.</a:t>
            </a:r>
          </a:p>
        </p:txBody>
      </p:sp>
    </p:spTree>
    <p:extLst>
      <p:ext uri="{BB962C8B-B14F-4D97-AF65-F5344CB8AC3E}">
        <p14:creationId xmlns:p14="http://schemas.microsoft.com/office/powerpoint/2010/main" val="189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3728-C4EA-2C5B-4C4F-863292B4E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27958-8746-9D26-8E26-977EB0A9DCE0}"/>
              </a:ext>
            </a:extLst>
          </p:cNvPr>
          <p:cNvSpPr>
            <a:spLocks noGrp="1"/>
          </p:cNvSpPr>
          <p:nvPr>
            <p:ph type="title"/>
          </p:nvPr>
        </p:nvSpPr>
        <p:spPr/>
        <p:txBody>
          <a:bodyPr/>
          <a:lstStyle/>
          <a:p>
            <a:r>
              <a:rPr lang="en-US" dirty="0"/>
              <a:t>What we could monitor</a:t>
            </a:r>
            <a:endParaRPr lang="en-GB" dirty="0"/>
          </a:p>
        </p:txBody>
      </p:sp>
      <p:sp>
        <p:nvSpPr>
          <p:cNvPr id="3" name="Content Placeholder 2">
            <a:extLst>
              <a:ext uri="{FF2B5EF4-FFF2-40B4-BE49-F238E27FC236}">
                <a16:creationId xmlns:a16="http://schemas.microsoft.com/office/drawing/2014/main" id="{DAAC5395-12A3-44C7-3946-F02EDD6AC5EB}"/>
              </a:ext>
            </a:extLst>
          </p:cNvPr>
          <p:cNvSpPr>
            <a:spLocks noGrp="1"/>
          </p:cNvSpPr>
          <p:nvPr>
            <p:ph idx="1"/>
          </p:nvPr>
        </p:nvSpPr>
        <p:spPr/>
        <p:txBody>
          <a:bodyPr>
            <a:noAutofit/>
          </a:bodyPr>
          <a:lstStyle/>
          <a:p>
            <a:r>
              <a:rPr lang="en-US" dirty="0"/>
              <a:t>System/operational metrics: if the deployed application fails (e.g. the repository goes </a:t>
            </a:r>
            <a:r>
              <a:rPr lang="en-US" dirty="0" err="1"/>
              <a:t>down,a</a:t>
            </a:r>
            <a:r>
              <a:rPr lang="en-US" dirty="0"/>
              <a:t> code/dependency update breaks the application, or an update to data schema used by repository breaks our deployed application), alerts are sent to the Slack channel used for monitoring. </a:t>
            </a:r>
          </a:p>
          <a:p>
            <a:r>
              <a:rPr lang="en-US" dirty="0"/>
              <a:t>Latencies and item throughput when executing repository requests and obtaining model predictions will also be obtained.</a:t>
            </a:r>
          </a:p>
          <a:p>
            <a:r>
              <a:rPr lang="en-US" dirty="0"/>
              <a:t>This isn’t an exhaustive list, we can add other things for monitoring as well over time (bearing in mind our deadlines!!!)</a:t>
            </a:r>
          </a:p>
        </p:txBody>
      </p:sp>
    </p:spTree>
    <p:extLst>
      <p:ext uri="{BB962C8B-B14F-4D97-AF65-F5344CB8AC3E}">
        <p14:creationId xmlns:p14="http://schemas.microsoft.com/office/powerpoint/2010/main" val="993460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3F066-D093-9BBD-11C2-D8B48FB08A1F}"/>
              </a:ext>
            </a:extLst>
          </p:cNvPr>
          <p:cNvSpPr>
            <a:spLocks noGrp="1"/>
          </p:cNvSpPr>
          <p:nvPr>
            <p:ph type="title"/>
          </p:nvPr>
        </p:nvSpPr>
        <p:spPr/>
        <p:txBody>
          <a:bodyPr/>
          <a:lstStyle/>
          <a:p>
            <a:r>
              <a:rPr lang="en-US" dirty="0"/>
              <a:t>What next: ingesting new data</a:t>
            </a:r>
            <a:endParaRPr lang="en-GB" dirty="0"/>
          </a:p>
        </p:txBody>
      </p:sp>
      <p:sp>
        <p:nvSpPr>
          <p:cNvPr id="3" name="Content Placeholder 2">
            <a:extLst>
              <a:ext uri="{FF2B5EF4-FFF2-40B4-BE49-F238E27FC236}">
                <a16:creationId xmlns:a16="http://schemas.microsoft.com/office/drawing/2014/main" id="{054FD983-C623-6FFE-6D12-988798E389CB}"/>
              </a:ext>
            </a:extLst>
          </p:cNvPr>
          <p:cNvSpPr>
            <a:spLocks noGrp="1"/>
          </p:cNvSpPr>
          <p:nvPr>
            <p:ph idx="1"/>
          </p:nvPr>
        </p:nvSpPr>
        <p:spPr>
          <a:xfrm>
            <a:off x="838200" y="1825625"/>
            <a:ext cx="10515600" cy="2768146"/>
          </a:xfrm>
        </p:spPr>
        <p:txBody>
          <a:bodyPr>
            <a:normAutofit/>
          </a:bodyPr>
          <a:lstStyle/>
          <a:p>
            <a:r>
              <a:rPr lang="en-US" dirty="0"/>
              <a:t>There are data from 188 sweeps in our repository at present.</a:t>
            </a:r>
          </a:p>
          <a:p>
            <a:r>
              <a:rPr lang="en-US" dirty="0"/>
              <a:t>Our application has a config file which specifies what sweeps to pull data from (</a:t>
            </a:r>
            <a:r>
              <a:rPr lang="en-US" dirty="0">
                <a:hlinkClick r:id="rId2"/>
              </a:rPr>
              <a:t>https://github.com/CLOSER-Cohorts/ml-resources/blob/main/projects/am2_project/config/am2_config.json</a:t>
            </a:r>
            <a:r>
              <a:rPr lang="en-US" dirty="0"/>
              <a:t>)</a:t>
            </a:r>
          </a:p>
        </p:txBody>
      </p:sp>
      <p:pic>
        <p:nvPicPr>
          <p:cNvPr id="5" name="Picture 4">
            <a:extLst>
              <a:ext uri="{FF2B5EF4-FFF2-40B4-BE49-F238E27FC236}">
                <a16:creationId xmlns:a16="http://schemas.microsoft.com/office/drawing/2014/main" id="{A4F3761C-1D36-965D-EA7F-40D4FAF375C9}"/>
              </a:ext>
            </a:extLst>
          </p:cNvPr>
          <p:cNvPicPr>
            <a:picLocks noChangeAspect="1"/>
          </p:cNvPicPr>
          <p:nvPr/>
        </p:nvPicPr>
        <p:blipFill>
          <a:blip r:embed="rId3"/>
          <a:stretch>
            <a:fillRect/>
          </a:stretch>
        </p:blipFill>
        <p:spPr>
          <a:xfrm>
            <a:off x="3052337" y="3913111"/>
            <a:ext cx="6087325" cy="2172003"/>
          </a:xfrm>
          <a:prstGeom prst="rect">
            <a:avLst/>
          </a:prstGeom>
        </p:spPr>
      </p:pic>
    </p:spTree>
    <p:extLst>
      <p:ext uri="{BB962C8B-B14F-4D97-AF65-F5344CB8AC3E}">
        <p14:creationId xmlns:p14="http://schemas.microsoft.com/office/powerpoint/2010/main" val="7571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0FA6-553F-BE0F-FD92-6B831BAFF177}"/>
              </a:ext>
            </a:extLst>
          </p:cNvPr>
          <p:cNvSpPr>
            <a:spLocks noGrp="1"/>
          </p:cNvSpPr>
          <p:nvPr>
            <p:ph type="title"/>
          </p:nvPr>
        </p:nvSpPr>
        <p:spPr/>
        <p:txBody>
          <a:bodyPr/>
          <a:lstStyle/>
          <a:p>
            <a:r>
              <a:rPr lang="en-US" dirty="0"/>
              <a:t>What next: ingesting new data</a:t>
            </a:r>
            <a:endParaRPr lang="en-GB" dirty="0"/>
          </a:p>
        </p:txBody>
      </p:sp>
      <p:sp>
        <p:nvSpPr>
          <p:cNvPr id="3" name="Content Placeholder 2">
            <a:extLst>
              <a:ext uri="{FF2B5EF4-FFF2-40B4-BE49-F238E27FC236}">
                <a16:creationId xmlns:a16="http://schemas.microsoft.com/office/drawing/2014/main" id="{1851E2CF-9332-E8A2-7336-E97C96E452B2}"/>
              </a:ext>
            </a:extLst>
          </p:cNvPr>
          <p:cNvSpPr>
            <a:spLocks noGrp="1"/>
          </p:cNvSpPr>
          <p:nvPr>
            <p:ph idx="1"/>
          </p:nvPr>
        </p:nvSpPr>
        <p:spPr/>
        <p:txBody>
          <a:bodyPr>
            <a:normAutofit/>
          </a:bodyPr>
          <a:lstStyle/>
          <a:p>
            <a:r>
              <a:rPr lang="en-US" dirty="0"/>
              <a:t>Just because data is in our repository, doesn’t mean it’s in our model! The data that is used to train our model is specified in </a:t>
            </a:r>
            <a:r>
              <a:rPr lang="en-US" dirty="0" err="1"/>
              <a:t>the’Sweeps</a:t>
            </a:r>
            <a:r>
              <a:rPr lang="en-US" dirty="0"/>
              <a:t>’ field in the am2_config.json file referenced in the previous slide.</a:t>
            </a:r>
          </a:p>
          <a:p>
            <a:r>
              <a:rPr lang="en-US" dirty="0"/>
              <a:t>At present there is only one sweep in this config file. We will add more sweeps to this config file and generate new labelled data from these sweeps that can be used to retrain the model with the addition of each new sweep.</a:t>
            </a:r>
          </a:p>
          <a:p>
            <a:r>
              <a:rPr lang="en-US" dirty="0"/>
              <a:t>We will observe the monitoring data while ingesting data to ensure there are no problems. </a:t>
            </a:r>
          </a:p>
        </p:txBody>
      </p:sp>
    </p:spTree>
    <p:extLst>
      <p:ext uri="{BB962C8B-B14F-4D97-AF65-F5344CB8AC3E}">
        <p14:creationId xmlns:p14="http://schemas.microsoft.com/office/powerpoint/2010/main" val="4061258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4D9B-6060-2A6B-87D4-5F18F2168E69}"/>
              </a:ext>
            </a:extLst>
          </p:cNvPr>
          <p:cNvSpPr>
            <a:spLocks noGrp="1"/>
          </p:cNvSpPr>
          <p:nvPr>
            <p:ph type="title"/>
          </p:nvPr>
        </p:nvSpPr>
        <p:spPr/>
        <p:txBody>
          <a:bodyPr/>
          <a:lstStyle/>
          <a:p>
            <a:r>
              <a:rPr lang="en-US" dirty="0"/>
              <a:t>Updating the model with new data</a:t>
            </a:r>
            <a:endParaRPr lang="en-GB" dirty="0"/>
          </a:p>
        </p:txBody>
      </p:sp>
      <p:sp>
        <p:nvSpPr>
          <p:cNvPr id="3" name="Content Placeholder 2">
            <a:extLst>
              <a:ext uri="{FF2B5EF4-FFF2-40B4-BE49-F238E27FC236}">
                <a16:creationId xmlns:a16="http://schemas.microsoft.com/office/drawing/2014/main" id="{38BA4F07-2647-5043-0419-1C5D413A19A5}"/>
              </a:ext>
            </a:extLst>
          </p:cNvPr>
          <p:cNvSpPr>
            <a:spLocks noGrp="1"/>
          </p:cNvSpPr>
          <p:nvPr>
            <p:ph idx="1"/>
          </p:nvPr>
        </p:nvSpPr>
        <p:spPr>
          <a:xfrm>
            <a:off x="838200" y="1825625"/>
            <a:ext cx="10515600" cy="1679575"/>
          </a:xfrm>
        </p:spPr>
        <p:txBody>
          <a:bodyPr>
            <a:normAutofit fontScale="92500" lnSpcReduction="10000"/>
          </a:bodyPr>
          <a:lstStyle/>
          <a:p>
            <a:r>
              <a:rPr lang="en-US" dirty="0"/>
              <a:t>When a new sweep is added to the config file (or items are added/updated in a sweep that is already in the config file), the deployed application obtains the data for this sweep from the repository and sends an alert to the Slack monitoring channel saying that new training data is available.</a:t>
            </a:r>
          </a:p>
          <a:p>
            <a:endParaRPr lang="en-GB" dirty="0"/>
          </a:p>
        </p:txBody>
      </p:sp>
      <p:pic>
        <p:nvPicPr>
          <p:cNvPr id="7" name="Picture 6">
            <a:extLst>
              <a:ext uri="{FF2B5EF4-FFF2-40B4-BE49-F238E27FC236}">
                <a16:creationId xmlns:a16="http://schemas.microsoft.com/office/drawing/2014/main" id="{572497E3-2FC0-42C3-40A6-8AE30363C7BE}"/>
              </a:ext>
            </a:extLst>
          </p:cNvPr>
          <p:cNvPicPr>
            <a:picLocks noChangeAspect="1"/>
          </p:cNvPicPr>
          <p:nvPr/>
        </p:nvPicPr>
        <p:blipFill>
          <a:blip r:embed="rId2"/>
          <a:stretch>
            <a:fillRect/>
          </a:stretch>
        </p:blipFill>
        <p:spPr>
          <a:xfrm>
            <a:off x="1082474" y="3640137"/>
            <a:ext cx="9373908" cy="1867161"/>
          </a:xfrm>
          <a:prstGeom prst="rect">
            <a:avLst/>
          </a:prstGeom>
        </p:spPr>
      </p:pic>
    </p:spTree>
    <p:extLst>
      <p:ext uri="{BB962C8B-B14F-4D97-AF65-F5344CB8AC3E}">
        <p14:creationId xmlns:p14="http://schemas.microsoft.com/office/powerpoint/2010/main" val="3417078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1653-642B-5A5E-D2AB-AF1DD798EFDB}"/>
              </a:ext>
            </a:extLst>
          </p:cNvPr>
          <p:cNvSpPr>
            <a:spLocks noGrp="1"/>
          </p:cNvSpPr>
          <p:nvPr>
            <p:ph type="title"/>
          </p:nvPr>
        </p:nvSpPr>
        <p:spPr/>
        <p:txBody>
          <a:bodyPr>
            <a:normAutofit/>
          </a:bodyPr>
          <a:lstStyle/>
          <a:p>
            <a:r>
              <a:rPr lang="en-US" dirty="0"/>
              <a:t>Training/retraining the model</a:t>
            </a:r>
            <a:endParaRPr lang="en-GB" dirty="0"/>
          </a:p>
        </p:txBody>
      </p:sp>
      <p:sp>
        <p:nvSpPr>
          <p:cNvPr id="3" name="Content Placeholder 2">
            <a:extLst>
              <a:ext uri="{FF2B5EF4-FFF2-40B4-BE49-F238E27FC236}">
                <a16:creationId xmlns:a16="http://schemas.microsoft.com/office/drawing/2014/main" id="{73841098-E1B7-F4B1-6F1B-1D07F2193119}"/>
              </a:ext>
            </a:extLst>
          </p:cNvPr>
          <p:cNvSpPr>
            <a:spLocks noGrp="1"/>
          </p:cNvSpPr>
          <p:nvPr>
            <p:ph idx="1"/>
          </p:nvPr>
        </p:nvSpPr>
        <p:spPr/>
        <p:txBody>
          <a:bodyPr>
            <a:normAutofit fontScale="92500" lnSpcReduction="10000"/>
          </a:bodyPr>
          <a:lstStyle/>
          <a:p>
            <a:endParaRPr lang="en-US" dirty="0"/>
          </a:p>
          <a:p>
            <a:r>
              <a:rPr lang="en-US" dirty="0"/>
              <a:t>A human user then uses a Python function I wrote called “</a:t>
            </a:r>
            <a:r>
              <a:rPr lang="en-GB" dirty="0" err="1"/>
              <a:t>train_semi_supervised_model</a:t>
            </a:r>
            <a:r>
              <a:rPr lang="en-GB" dirty="0"/>
              <a:t>” to create</a:t>
            </a:r>
            <a:r>
              <a:rPr lang="en-US" dirty="0"/>
              <a:t> pseudo-labelled training data. When running this function, they will be presented with the graphs showing the output from the </a:t>
            </a:r>
            <a:r>
              <a:rPr lang="en-US" dirty="0" err="1"/>
              <a:t>IsolationForest</a:t>
            </a:r>
            <a:r>
              <a:rPr lang="en-US" dirty="0"/>
              <a:t> and the data for the outliers detected by the </a:t>
            </a:r>
            <a:r>
              <a:rPr lang="en-US" dirty="0" err="1"/>
              <a:t>IsolationForest</a:t>
            </a:r>
            <a:r>
              <a:rPr lang="en-US" dirty="0"/>
              <a:t>. The user will be asked to confirm if the outliers are anomalies that require human intervention. This could be ascertained by viewing the outlier in the Discovery web portal, examining what other items the outlier is/isn’t connected to, etc.</a:t>
            </a:r>
          </a:p>
          <a:p>
            <a:r>
              <a:rPr lang="en-US" dirty="0"/>
              <a:t> We will use this pseudo-labelled data to train a decision tree which will predict anomalies. </a:t>
            </a:r>
          </a:p>
          <a:p>
            <a:endParaRPr lang="en-GB" dirty="0"/>
          </a:p>
        </p:txBody>
      </p:sp>
    </p:spTree>
    <p:extLst>
      <p:ext uri="{BB962C8B-B14F-4D97-AF65-F5344CB8AC3E}">
        <p14:creationId xmlns:p14="http://schemas.microsoft.com/office/powerpoint/2010/main" val="2573088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B423-95CF-8B3C-22F0-89A1EB10B63C}"/>
              </a:ext>
            </a:extLst>
          </p:cNvPr>
          <p:cNvSpPr>
            <a:spLocks noGrp="1"/>
          </p:cNvSpPr>
          <p:nvPr>
            <p:ph type="title"/>
          </p:nvPr>
        </p:nvSpPr>
        <p:spPr/>
        <p:txBody>
          <a:bodyPr/>
          <a:lstStyle/>
          <a:p>
            <a:r>
              <a:rPr lang="en-US" dirty="0"/>
              <a:t>Model validation</a:t>
            </a:r>
            <a:endParaRPr lang="en-GB" dirty="0"/>
          </a:p>
        </p:txBody>
      </p:sp>
      <p:sp>
        <p:nvSpPr>
          <p:cNvPr id="3" name="Content Placeholder 2">
            <a:extLst>
              <a:ext uri="{FF2B5EF4-FFF2-40B4-BE49-F238E27FC236}">
                <a16:creationId xmlns:a16="http://schemas.microsoft.com/office/drawing/2014/main" id="{1404F728-1D7D-AB71-FEBE-61EC44CCEF64}"/>
              </a:ext>
            </a:extLst>
          </p:cNvPr>
          <p:cNvSpPr>
            <a:spLocks noGrp="1"/>
          </p:cNvSpPr>
          <p:nvPr>
            <p:ph idx="1"/>
          </p:nvPr>
        </p:nvSpPr>
        <p:spPr/>
        <p:txBody>
          <a:bodyPr/>
          <a:lstStyle/>
          <a:p>
            <a:r>
              <a:rPr lang="en-US" dirty="0"/>
              <a:t>We will hold back approx. 20% of the sweeps for model validation.</a:t>
            </a:r>
            <a:endParaRPr lang="en-GB" dirty="0"/>
          </a:p>
          <a:p>
            <a:r>
              <a:rPr lang="en-GB" dirty="0"/>
              <a:t>We also plan on adding data in addition to that already in the 188 sweeps in our repository over the next few months. This new data will be detected by our deployed application, and the model will automatically try to detect anomalies in it.</a:t>
            </a:r>
          </a:p>
          <a:p>
            <a:endParaRPr lang="en-GB" dirty="0"/>
          </a:p>
        </p:txBody>
      </p:sp>
    </p:spTree>
    <p:extLst>
      <p:ext uri="{BB962C8B-B14F-4D97-AF65-F5344CB8AC3E}">
        <p14:creationId xmlns:p14="http://schemas.microsoft.com/office/powerpoint/2010/main" val="3971546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1964</Words>
  <Application>Microsoft Office PowerPoint</Application>
  <PresentationFormat>Widescreen</PresentationFormat>
  <Paragraphs>72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Cascadia Code</vt:lpstr>
      <vt:lpstr>Office Theme</vt:lpstr>
      <vt:lpstr>AM2 project update</vt:lpstr>
      <vt:lpstr>I work for CLOSER…</vt:lpstr>
      <vt:lpstr>This is the website (discovery.closer.ac.uk) used to explore our data. Here is a study, it references items such as datasets, questionnaires, etc. Those items reference other items as well.</vt:lpstr>
      <vt:lpstr>Items are described using DDI-XML. Here is a question item, note that it has a ‘CodeListReference’; the codelist represents the multiple choice options for the question. Our REST API can be used to get this XML data.</vt:lpstr>
      <vt:lpstr>Our data is like a graph database: items are nodes, and can reference each other…</vt:lpstr>
      <vt:lpstr>You can represent the relationships that an item has with other items as a vector of numeric values. Below is an example of the relationships that a variable has with other items: (5=directly references, 1 = transitively/indirectly referenced i.e.  Variable Set-&gt;Variable Statistic-&gt; Variable, 0 = no relationship)</vt:lpstr>
      <vt:lpstr>We want to find ‘anomalies’…</vt:lpstr>
      <vt:lpstr>Why do we need ML for this?</vt:lpstr>
      <vt:lpstr>Can an ML model be trained to predict if an item is anomalous/broken using a set of samples representing item relationships like we saw before? Maybe, but: the item data isn’t labelled as anomalous/non-anomalous…</vt:lpstr>
      <vt:lpstr>Solution: create a pseudo-labelled training dataset for a supervised learning model…</vt:lpstr>
      <vt:lpstr>So we can go from a set of numeric vectors representing item relationships, to a PCA plot which shows outliers identified using an IsolationForest, which a human can inspect for anomalies.</vt:lpstr>
      <vt:lpstr>We don’t just want to find outliers/items with unusual relationships…</vt:lpstr>
      <vt:lpstr>When we have generated a pseudo-labelled dataset…</vt:lpstr>
      <vt:lpstr>Model deployment</vt:lpstr>
      <vt:lpstr>If the decision tree predicts that an item is anomalous, it sends an alert to a Slack channel that is monitored by CLOSER staff… </vt:lpstr>
      <vt:lpstr>After being alerted via the Slack monitoring channel…</vt:lpstr>
      <vt:lpstr>What have we done, what will we do in future</vt:lpstr>
      <vt:lpstr>What we could monitor</vt:lpstr>
      <vt:lpstr>What we could monitor</vt:lpstr>
      <vt:lpstr>What next: ingesting new data</vt:lpstr>
      <vt:lpstr>What next: ingesting new data</vt:lpstr>
      <vt:lpstr>Updating the model with new data</vt:lpstr>
      <vt:lpstr>Training/retraining the model</vt:lpstr>
      <vt:lpstr>Model validation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Oliver Lyttleton</dc:creator>
  <cp:lastModifiedBy>Oliver Lyttleton</cp:lastModifiedBy>
  <cp:revision>22</cp:revision>
  <dcterms:created xsi:type="dcterms:W3CDTF">2026-04-07T08:33:01Z</dcterms:created>
  <dcterms:modified xsi:type="dcterms:W3CDTF">2026-04-07T15:26:41Z</dcterms:modified>
</cp:coreProperties>
</file>